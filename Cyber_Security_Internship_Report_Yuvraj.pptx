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10607040" y="-1097280"/>
            <a:ext cx="2926080" cy="2926080"/>
          </a:xfrm>
          <a:prstGeom prst="ellipse">
            <a:avLst/>
          </a:prstGeom>
          <a:solidFill>
            <a:srgbClr val="1F3D6B"/>
          </a:solidFill>
          <a:ln/>
        </p:spPr>
      </p:sp>
      <p:sp>
        <p:nvSpPr>
          <p:cNvPr id="3" name="Shape 1"/>
          <p:cNvSpPr/>
          <p:nvPr/>
        </p:nvSpPr>
        <p:spPr>
          <a:xfrm>
            <a:off x="11247120" y="5577840"/>
            <a:ext cx="1828800" cy="1828800"/>
          </a:xfrm>
          <a:prstGeom prst="ellipse">
            <a:avLst/>
          </a:prstGeom>
          <a:solidFill>
            <a:srgbClr val="C97F3F"/>
          </a:solidFill>
          <a:ln/>
        </p:spPr>
      </p:sp>
      <p:sp>
        <p:nvSpPr>
          <p:cNvPr id="4" name="Shape 2"/>
          <p:cNvSpPr/>
          <p:nvPr/>
        </p:nvSpPr>
        <p:spPr>
          <a:xfrm>
            <a:off x="-731520" y="5120640"/>
            <a:ext cx="2377440" cy="2377440"/>
          </a:xfrm>
          <a:prstGeom prst="ellipse">
            <a:avLst/>
          </a:prstGeom>
          <a:solidFill>
            <a:srgbClr val="1F3D6B"/>
          </a:solidFill>
          <a:ln/>
        </p:spPr>
      </p:sp>
      <p:sp>
        <p:nvSpPr>
          <p:cNvPr id="5" name="Text 3"/>
          <p:cNvSpPr/>
          <p:nvPr/>
        </p:nvSpPr>
        <p:spPr>
          <a:xfrm>
            <a:off x="640080" y="1051560"/>
            <a:ext cx="8229600" cy="320040"/>
          </a:xfrm>
          <a:prstGeom prst="rect">
            <a:avLst/>
          </a:prstGeom>
          <a:noFill/>
          <a:ln/>
        </p:spPr>
        <p:txBody>
          <a:bodyPr wrap="square" lIns="0" tIns="0" rIns="0" bIns="0" rtlCol="0" anchor="ctr"/>
          <a:lstStyle/>
          <a:p>
            <a:pPr indent="0" marL="0">
              <a:buNone/>
            </a:pPr>
            <a:r>
              <a:rPr lang="en-US" sz="1200" b="1" spc="200" kern="0" dirty="0">
                <a:solidFill>
                  <a:srgbClr val="C97F3F"/>
                </a:solidFill>
                <a:latin typeface="Calibri" pitchFamily="34" charset="0"/>
                <a:ea typeface="Calibri" pitchFamily="34" charset="-122"/>
                <a:cs typeface="Calibri" pitchFamily="34" charset="-120"/>
              </a:rPr>
              <a:t>CYBER SECURITY INTERNSHIP</a:t>
            </a:r>
            <a:endParaRPr lang="en-US" sz="1200" dirty="0"/>
          </a:p>
        </p:txBody>
      </p:sp>
      <p:sp>
        <p:nvSpPr>
          <p:cNvPr id="6" name="Text 4"/>
          <p:cNvSpPr/>
          <p:nvPr/>
        </p:nvSpPr>
        <p:spPr>
          <a:xfrm>
            <a:off x="640080" y="1417320"/>
            <a:ext cx="8686800" cy="137160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Network Traffic Analysis &amp;</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Cryptographic Implementation Toolkit</a:t>
            </a:r>
            <a:endParaRPr lang="en-US" sz="3400" dirty="0"/>
          </a:p>
        </p:txBody>
      </p:sp>
      <p:sp>
        <p:nvSpPr>
          <p:cNvPr id="7" name="Text 5"/>
          <p:cNvSpPr/>
          <p:nvPr/>
        </p:nvSpPr>
        <p:spPr>
          <a:xfrm>
            <a:off x="640080" y="2697480"/>
            <a:ext cx="8686800" cy="3657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Packet Inspection &amp; Applied Cryptography Project — Codec Technologies</a:t>
            </a:r>
            <a:endParaRPr lang="en-US" sz="1500" dirty="0"/>
          </a:p>
        </p:txBody>
      </p:sp>
      <p:sp>
        <p:nvSpPr>
          <p:cNvPr id="8" name="Shape 6"/>
          <p:cNvSpPr/>
          <p:nvPr/>
        </p:nvSpPr>
        <p:spPr>
          <a:xfrm>
            <a:off x="658368" y="3246120"/>
            <a:ext cx="2011680" cy="0"/>
          </a:xfrm>
          <a:prstGeom prst="line">
            <a:avLst/>
          </a:prstGeom>
          <a:noFill/>
          <a:ln w="12700">
            <a:solidFill>
              <a:srgbClr val="8FA3C2"/>
            </a:solidFill>
            <a:prstDash val="solid"/>
          </a:ln>
        </p:spPr>
      </p:sp>
      <p:sp>
        <p:nvSpPr>
          <p:cNvPr id="9" name="Text 7"/>
          <p:cNvSpPr/>
          <p:nvPr/>
        </p:nvSpPr>
        <p:spPr>
          <a:xfrm>
            <a:off x="640080" y="3429000"/>
            <a:ext cx="731520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Yuvraj</a:t>
            </a:r>
            <a:endParaRPr lang="en-US" sz="2000" dirty="0"/>
          </a:p>
        </p:txBody>
      </p:sp>
      <p:sp>
        <p:nvSpPr>
          <p:cNvPr id="10" name="Text 8"/>
          <p:cNvSpPr/>
          <p:nvPr/>
        </p:nvSpPr>
        <p:spPr>
          <a:xfrm>
            <a:off x="640080" y="3840480"/>
            <a:ext cx="82296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B.Tech CSE (2nd Year)  |  Section 2CSE20  |  Roll No. 25SCS1003005170</a:t>
            </a:r>
            <a:endParaRPr lang="en-US" sz="1300" dirty="0"/>
          </a:p>
        </p:txBody>
      </p:sp>
      <p:sp>
        <p:nvSpPr>
          <p:cNvPr id="11" name="Text 9"/>
          <p:cNvSpPr/>
          <p:nvPr/>
        </p:nvSpPr>
        <p:spPr>
          <a:xfrm>
            <a:off x="640080" y="4160520"/>
            <a:ext cx="82296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IILM University, Greater Noida  |  Academic Year 2026</a:t>
            </a:r>
            <a:endParaRPr lang="en-US" sz="1300" dirty="0"/>
          </a:p>
        </p:txBody>
      </p:sp>
      <p:sp>
        <p:nvSpPr>
          <p:cNvPr id="12" name="Text 10"/>
          <p:cNvSpPr/>
          <p:nvPr/>
        </p:nvSpPr>
        <p:spPr>
          <a:xfrm>
            <a:off x="640080" y="4892040"/>
            <a:ext cx="9601200" cy="320040"/>
          </a:xfrm>
          <a:prstGeom prst="rect">
            <a:avLst/>
          </a:prstGeom>
          <a:noFill/>
          <a:ln/>
        </p:spPr>
        <p:txBody>
          <a:bodyPr wrap="square" lIns="0" tIns="0" rIns="0" bIns="0" rtlCol="0" anchor="ctr"/>
          <a:lstStyle/>
          <a:p>
            <a:pPr indent="0" marL="0">
              <a:buNone/>
            </a:pPr>
            <a:r>
              <a:rPr lang="en-US" sz="1150" dirty="0">
                <a:solidFill>
                  <a:srgbClr val="8FA3C2"/>
                </a:solidFill>
                <a:latin typeface="Calibri" pitchFamily="34" charset="0"/>
                <a:ea typeface="Calibri" pitchFamily="34" charset="-122"/>
                <a:cs typeface="Calibri" pitchFamily="34" charset="-120"/>
              </a:rPr>
              <a:t>Organization: Codec Technologies Pvt. Ltd.   |   Designation: Cyber Security Intern   |   Duration: 08/06/2026 – 08/07/2026</a:t>
            </a:r>
            <a:endParaRPr lang="en-US" sz="1150" dirty="0"/>
          </a:p>
        </p:txBody>
      </p:sp>
      <p:sp>
        <p:nvSpPr>
          <p:cNvPr id="13" name="Text 11"/>
          <p:cNvSpPr/>
          <p:nvPr/>
        </p:nvSpPr>
        <p:spPr>
          <a:xfrm>
            <a:off x="640080" y="5257800"/>
            <a:ext cx="9418320" cy="640080"/>
          </a:xfrm>
          <a:prstGeom prst="rect">
            <a:avLst/>
          </a:prstGeom>
          <a:noFill/>
          <a:ln/>
        </p:spPr>
        <p:txBody>
          <a:bodyPr wrap="square" lIns="0" tIns="0" rIns="0" bIns="0" rtlCol="0" anchor="ctr"/>
          <a:lstStyle/>
          <a:p>
            <a:pPr indent="0" marL="0">
              <a:lnSpc>
                <a:spcPct val="115000"/>
              </a:lnSpc>
              <a:buNone/>
            </a:pPr>
            <a:r>
              <a:rPr lang="en-US" sz="1050" dirty="0">
                <a:solidFill>
                  <a:srgbClr val="8FA3C2"/>
                </a:solidFill>
                <a:latin typeface="Calibri" pitchFamily="34" charset="0"/>
                <a:ea typeface="Calibri" pitchFamily="34" charset="-122"/>
                <a:cs typeface="Calibri" pitchFamily="34" charset="-120"/>
              </a:rPr>
              <a:t>This report documents a 1-month AICTE &amp; ICAC approved internship completed with Codec Technologies as Cyber Security Intern, evidenced by the official offer letter and completion certificate included in this report.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ABOUT THE INTERN</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Candidate Profile</a:t>
            </a:r>
            <a:endParaRPr lang="en-US" sz="2800" dirty="0"/>
          </a:p>
        </p:txBody>
      </p:sp>
      <p:sp>
        <p:nvSpPr>
          <p:cNvPr id="4" name="Shape 2"/>
          <p:cNvSpPr/>
          <p:nvPr/>
        </p:nvSpPr>
        <p:spPr>
          <a:xfrm>
            <a:off x="457200" y="1554480"/>
            <a:ext cx="2286000" cy="3291840"/>
          </a:xfrm>
          <a:prstGeom prst="rect">
            <a:avLst/>
          </a:prstGeom>
          <a:solidFill>
            <a:srgbClr val="13294B"/>
          </a:solidFill>
          <a:ln/>
        </p:spPr>
      </p:sp>
      <p:sp>
        <p:nvSpPr>
          <p:cNvPr id="5" name="Text 3"/>
          <p:cNvSpPr/>
          <p:nvPr/>
        </p:nvSpPr>
        <p:spPr>
          <a:xfrm>
            <a:off x="457200" y="1783080"/>
            <a:ext cx="2286000" cy="10058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Y</a:t>
            </a:r>
            <a:endParaRPr lang="en-US" sz="4400" dirty="0"/>
          </a:p>
        </p:txBody>
      </p:sp>
      <p:sp>
        <p:nvSpPr>
          <p:cNvPr id="6" name="Text 4"/>
          <p:cNvSpPr/>
          <p:nvPr/>
        </p:nvSpPr>
        <p:spPr>
          <a:xfrm>
            <a:off x="457200" y="2788920"/>
            <a:ext cx="22860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YUVRAJ</a:t>
            </a:r>
            <a:endParaRPr lang="en-US" sz="1700" dirty="0"/>
          </a:p>
        </p:txBody>
      </p:sp>
      <p:sp>
        <p:nvSpPr>
          <p:cNvPr id="7" name="Text 5"/>
          <p:cNvSpPr/>
          <p:nvPr/>
        </p:nvSpPr>
        <p:spPr>
          <a:xfrm>
            <a:off x="502920" y="3246120"/>
            <a:ext cx="2194560" cy="54864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B.Tech — Computer Science</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&amp; Engineering</a:t>
            </a:r>
            <a:endParaRPr lang="en-US" sz="1050" dirty="0"/>
          </a:p>
        </p:txBody>
      </p:sp>
      <p:sp>
        <p:nvSpPr>
          <p:cNvPr id="8" name="Shape 6"/>
          <p:cNvSpPr/>
          <p:nvPr/>
        </p:nvSpPr>
        <p:spPr>
          <a:xfrm>
            <a:off x="685800" y="3931920"/>
            <a:ext cx="1828800" cy="0"/>
          </a:xfrm>
          <a:prstGeom prst="line">
            <a:avLst/>
          </a:prstGeom>
          <a:noFill/>
          <a:ln w="9525">
            <a:solidFill>
              <a:srgbClr val="6E84A6"/>
            </a:solidFill>
            <a:prstDash val="solid"/>
          </a:ln>
        </p:spPr>
      </p:sp>
      <p:sp>
        <p:nvSpPr>
          <p:cNvPr id="9" name="Text 7"/>
          <p:cNvSpPr/>
          <p:nvPr/>
        </p:nvSpPr>
        <p:spPr>
          <a:xfrm>
            <a:off x="502920" y="4023360"/>
            <a:ext cx="2194560" cy="274320"/>
          </a:xfrm>
          <a:prstGeom prst="rect">
            <a:avLst/>
          </a:prstGeom>
          <a:noFill/>
          <a:ln/>
        </p:spPr>
        <p:txBody>
          <a:bodyPr wrap="square" lIns="0" tIns="0" rIns="0" bIns="0" rtlCol="0" anchor="ctr"/>
          <a:lstStyle/>
          <a:p>
            <a:pPr algn="ctr" indent="0" marL="0">
              <a:buNone/>
            </a:pPr>
            <a:r>
              <a:rPr lang="en-US" sz="900" dirty="0">
                <a:solidFill>
                  <a:srgbClr val="8FA3C2"/>
                </a:solidFill>
                <a:latin typeface="Calibri" pitchFamily="34" charset="0"/>
                <a:ea typeface="Calibri" pitchFamily="34" charset="-122"/>
                <a:cs typeface="Calibri" pitchFamily="34" charset="-120"/>
              </a:rPr>
              <a:t>Simulation / Internship Track</a:t>
            </a:r>
            <a:endParaRPr lang="en-US" sz="900" dirty="0"/>
          </a:p>
        </p:txBody>
      </p:sp>
      <p:sp>
        <p:nvSpPr>
          <p:cNvPr id="10" name="Text 8"/>
          <p:cNvSpPr/>
          <p:nvPr/>
        </p:nvSpPr>
        <p:spPr>
          <a:xfrm>
            <a:off x="502920" y="4251960"/>
            <a:ext cx="2194560" cy="594360"/>
          </a:xfrm>
          <a:prstGeom prst="rect">
            <a:avLst/>
          </a:prstGeom>
          <a:noFill/>
          <a:ln/>
        </p:spPr>
        <p:txBody>
          <a:bodyPr wrap="square" lIns="0" tIns="0" rIns="0" bIns="0" rtlCol="0" anchor="ctr"/>
          <a:lstStyle/>
          <a:p>
            <a:pPr algn="ctr" indent="0" marL="0">
              <a:lnSpc>
                <a:spcPct val="110000"/>
              </a:lnSpc>
              <a:buNone/>
            </a:pPr>
            <a:r>
              <a:rPr lang="en-US" sz="950" b="1" dirty="0">
                <a:solidFill>
                  <a:srgbClr val="FFFFFF"/>
                </a:solidFill>
                <a:latin typeface="Calibri" pitchFamily="34" charset="0"/>
                <a:ea typeface="Calibri" pitchFamily="34" charset="-122"/>
                <a:cs typeface="Calibri" pitchFamily="34" charset="-120"/>
              </a:rPr>
              <a:t>Cyber Security Internship — Codec Technologies (Network Security &amp; Cryptography)</a:t>
            </a:r>
            <a:endParaRPr lang="en-US" sz="950" dirty="0"/>
          </a:p>
        </p:txBody>
      </p:sp>
      <p:sp>
        <p:nvSpPr>
          <p:cNvPr id="11" name="Shape 9"/>
          <p:cNvSpPr/>
          <p:nvPr/>
        </p:nvSpPr>
        <p:spPr>
          <a:xfrm>
            <a:off x="3063240" y="1554480"/>
            <a:ext cx="3931920" cy="1417320"/>
          </a:xfrm>
          <a:prstGeom prst="roundRect">
            <a:avLst>
              <a:gd name="adj" fmla="val 5161"/>
            </a:avLst>
          </a:prstGeom>
          <a:solidFill>
            <a:srgbClr val="F4F7FC"/>
          </a:solidFill>
          <a:ln/>
        </p:spPr>
      </p:sp>
      <p:sp>
        <p:nvSpPr>
          <p:cNvPr id="12" name="Shape 10"/>
          <p:cNvSpPr/>
          <p:nvPr/>
        </p:nvSpPr>
        <p:spPr>
          <a:xfrm>
            <a:off x="3291840" y="1783080"/>
            <a:ext cx="411480" cy="411480"/>
          </a:xfrm>
          <a:prstGeom prst="ellipse">
            <a:avLst/>
          </a:prstGeom>
          <a:solidFill>
            <a:srgbClr val="C97F3F"/>
          </a:solidFill>
          <a:ln/>
        </p:spPr>
      </p:sp>
      <p:sp>
        <p:nvSpPr>
          <p:cNvPr id="13" name="Text 11"/>
          <p:cNvSpPr/>
          <p:nvPr/>
        </p:nvSpPr>
        <p:spPr>
          <a:xfrm>
            <a:off x="3291840" y="17830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3840480" y="1773936"/>
            <a:ext cx="3017520" cy="274320"/>
          </a:xfrm>
          <a:prstGeom prst="rect">
            <a:avLst/>
          </a:prstGeom>
          <a:noFill/>
          <a:ln/>
        </p:spPr>
        <p:txBody>
          <a:bodyPr wrap="square" lIns="0" tIns="0" rIns="0" bIns="0" rtlCol="0" anchor="ctr"/>
          <a:lstStyle/>
          <a:p>
            <a:pPr indent="0" marL="0">
              <a:buNone/>
            </a:pPr>
            <a:r>
              <a:rPr lang="en-US" sz="950" b="1" spc="100" kern="0" dirty="0">
                <a:solidFill>
                  <a:srgbClr val="6E84A6"/>
                </a:solidFill>
                <a:latin typeface="Calibri" pitchFamily="34" charset="0"/>
                <a:ea typeface="Calibri" pitchFamily="34" charset="-122"/>
                <a:cs typeface="Calibri" pitchFamily="34" charset="-120"/>
              </a:rPr>
              <a:t>UNIVERSITY</a:t>
            </a:r>
            <a:endParaRPr lang="en-US" sz="950" dirty="0"/>
          </a:p>
        </p:txBody>
      </p:sp>
      <p:sp>
        <p:nvSpPr>
          <p:cNvPr id="15" name="Text 13"/>
          <p:cNvSpPr/>
          <p:nvPr/>
        </p:nvSpPr>
        <p:spPr>
          <a:xfrm>
            <a:off x="3840480" y="2057400"/>
            <a:ext cx="3017520" cy="685800"/>
          </a:xfrm>
          <a:prstGeom prst="rect">
            <a:avLst/>
          </a:prstGeom>
          <a:noFill/>
          <a:ln/>
        </p:spPr>
        <p:txBody>
          <a:bodyPr wrap="square" lIns="0" tIns="0" rIns="0" bIns="0" rtlCol="0" anchor="ctr"/>
          <a:lstStyle/>
          <a:p>
            <a:pPr indent="0" marL="0">
              <a:lnSpc>
                <a:spcPct val="110000"/>
              </a:lnSpc>
              <a:buNone/>
            </a:pPr>
            <a:r>
              <a:rPr lang="en-US" sz="1300" dirty="0">
                <a:solidFill>
                  <a:srgbClr val="13294B"/>
                </a:solidFill>
                <a:latin typeface="Calibri" pitchFamily="34" charset="0"/>
                <a:ea typeface="Calibri" pitchFamily="34" charset="-122"/>
                <a:cs typeface="Calibri" pitchFamily="34" charset="-120"/>
              </a:rPr>
              <a:t>IILM University, Greater Noida</a:t>
            </a:r>
            <a:endParaRPr lang="en-US" sz="1300" dirty="0"/>
          </a:p>
        </p:txBody>
      </p:sp>
      <p:sp>
        <p:nvSpPr>
          <p:cNvPr id="16" name="Shape 14"/>
          <p:cNvSpPr/>
          <p:nvPr/>
        </p:nvSpPr>
        <p:spPr>
          <a:xfrm>
            <a:off x="7223760" y="1554480"/>
            <a:ext cx="3931920" cy="1417320"/>
          </a:xfrm>
          <a:prstGeom prst="roundRect">
            <a:avLst>
              <a:gd name="adj" fmla="val 5161"/>
            </a:avLst>
          </a:prstGeom>
          <a:solidFill>
            <a:srgbClr val="F4F7FC"/>
          </a:solidFill>
          <a:ln/>
        </p:spPr>
      </p:sp>
      <p:sp>
        <p:nvSpPr>
          <p:cNvPr id="17" name="Shape 15"/>
          <p:cNvSpPr/>
          <p:nvPr/>
        </p:nvSpPr>
        <p:spPr>
          <a:xfrm>
            <a:off x="7452360" y="1783080"/>
            <a:ext cx="411480" cy="411480"/>
          </a:xfrm>
          <a:prstGeom prst="ellipse">
            <a:avLst/>
          </a:prstGeom>
          <a:solidFill>
            <a:srgbClr val="C97F3F"/>
          </a:solidFill>
          <a:ln/>
        </p:spPr>
      </p:sp>
      <p:sp>
        <p:nvSpPr>
          <p:cNvPr id="18" name="Text 16"/>
          <p:cNvSpPr/>
          <p:nvPr/>
        </p:nvSpPr>
        <p:spPr>
          <a:xfrm>
            <a:off x="7452360" y="17830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8001000" y="1773936"/>
            <a:ext cx="3017520" cy="274320"/>
          </a:xfrm>
          <a:prstGeom prst="rect">
            <a:avLst/>
          </a:prstGeom>
          <a:noFill/>
          <a:ln/>
        </p:spPr>
        <p:txBody>
          <a:bodyPr wrap="square" lIns="0" tIns="0" rIns="0" bIns="0" rtlCol="0" anchor="ctr"/>
          <a:lstStyle/>
          <a:p>
            <a:pPr indent="0" marL="0">
              <a:buNone/>
            </a:pPr>
            <a:r>
              <a:rPr lang="en-US" sz="950" b="1" spc="100" kern="0" dirty="0">
                <a:solidFill>
                  <a:srgbClr val="6E84A6"/>
                </a:solidFill>
                <a:latin typeface="Calibri" pitchFamily="34" charset="0"/>
                <a:ea typeface="Calibri" pitchFamily="34" charset="-122"/>
                <a:cs typeface="Calibri" pitchFamily="34" charset="-120"/>
              </a:rPr>
              <a:t>COURSE &amp; SECTION</a:t>
            </a:r>
            <a:endParaRPr lang="en-US" sz="950" dirty="0"/>
          </a:p>
        </p:txBody>
      </p:sp>
      <p:sp>
        <p:nvSpPr>
          <p:cNvPr id="20" name="Text 18"/>
          <p:cNvSpPr/>
          <p:nvPr/>
        </p:nvSpPr>
        <p:spPr>
          <a:xfrm>
            <a:off x="8001000" y="2057400"/>
            <a:ext cx="3017520" cy="685800"/>
          </a:xfrm>
          <a:prstGeom prst="rect">
            <a:avLst/>
          </a:prstGeom>
          <a:noFill/>
          <a:ln/>
        </p:spPr>
        <p:txBody>
          <a:bodyPr wrap="square" lIns="0" tIns="0" rIns="0" bIns="0" rtlCol="0" anchor="ctr"/>
          <a:lstStyle/>
          <a:p>
            <a:pPr indent="0" marL="0">
              <a:lnSpc>
                <a:spcPct val="110000"/>
              </a:lnSpc>
              <a:buNone/>
            </a:pPr>
            <a:r>
              <a:rPr lang="en-US" sz="1300" dirty="0">
                <a:solidFill>
                  <a:srgbClr val="13294B"/>
                </a:solidFill>
                <a:latin typeface="Calibri" pitchFamily="34" charset="0"/>
                <a:ea typeface="Calibri" pitchFamily="34" charset="-122"/>
                <a:cs typeface="Calibri" pitchFamily="34" charset="-120"/>
              </a:rPr>
              <a:t>B.Tech CSE  |  Section 2CSE20</a:t>
            </a:r>
            <a:endParaRPr lang="en-US" sz="1300" dirty="0"/>
          </a:p>
        </p:txBody>
      </p:sp>
      <p:sp>
        <p:nvSpPr>
          <p:cNvPr id="21" name="Shape 19"/>
          <p:cNvSpPr/>
          <p:nvPr/>
        </p:nvSpPr>
        <p:spPr>
          <a:xfrm>
            <a:off x="3063240" y="3200400"/>
            <a:ext cx="3931920" cy="1417320"/>
          </a:xfrm>
          <a:prstGeom prst="roundRect">
            <a:avLst>
              <a:gd name="adj" fmla="val 5161"/>
            </a:avLst>
          </a:prstGeom>
          <a:solidFill>
            <a:srgbClr val="F4F7FC"/>
          </a:solidFill>
          <a:ln/>
        </p:spPr>
      </p:sp>
      <p:sp>
        <p:nvSpPr>
          <p:cNvPr id="22" name="Shape 20"/>
          <p:cNvSpPr/>
          <p:nvPr/>
        </p:nvSpPr>
        <p:spPr>
          <a:xfrm>
            <a:off x="3291840" y="3429000"/>
            <a:ext cx="411480" cy="411480"/>
          </a:xfrm>
          <a:prstGeom prst="ellipse">
            <a:avLst/>
          </a:prstGeom>
          <a:solidFill>
            <a:srgbClr val="C97F3F"/>
          </a:solidFill>
          <a:ln/>
        </p:spPr>
      </p:sp>
      <p:sp>
        <p:nvSpPr>
          <p:cNvPr id="23" name="Text 21"/>
          <p:cNvSpPr/>
          <p:nvPr/>
        </p:nvSpPr>
        <p:spPr>
          <a:xfrm>
            <a:off x="3291840" y="3429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3840480" y="3419856"/>
            <a:ext cx="3017520" cy="274320"/>
          </a:xfrm>
          <a:prstGeom prst="rect">
            <a:avLst/>
          </a:prstGeom>
          <a:noFill/>
          <a:ln/>
        </p:spPr>
        <p:txBody>
          <a:bodyPr wrap="square" lIns="0" tIns="0" rIns="0" bIns="0" rtlCol="0" anchor="ctr"/>
          <a:lstStyle/>
          <a:p>
            <a:pPr indent="0" marL="0">
              <a:buNone/>
            </a:pPr>
            <a:r>
              <a:rPr lang="en-US" sz="950" b="1" spc="100" kern="0" dirty="0">
                <a:solidFill>
                  <a:srgbClr val="6E84A6"/>
                </a:solidFill>
                <a:latin typeface="Calibri" pitchFamily="34" charset="0"/>
                <a:ea typeface="Calibri" pitchFamily="34" charset="-122"/>
                <a:cs typeface="Calibri" pitchFamily="34" charset="-120"/>
              </a:rPr>
              <a:t>ROLL NUMBER</a:t>
            </a:r>
            <a:endParaRPr lang="en-US" sz="950" dirty="0"/>
          </a:p>
        </p:txBody>
      </p:sp>
      <p:sp>
        <p:nvSpPr>
          <p:cNvPr id="25" name="Text 23"/>
          <p:cNvSpPr/>
          <p:nvPr/>
        </p:nvSpPr>
        <p:spPr>
          <a:xfrm>
            <a:off x="3840480" y="3703320"/>
            <a:ext cx="3017520" cy="685800"/>
          </a:xfrm>
          <a:prstGeom prst="rect">
            <a:avLst/>
          </a:prstGeom>
          <a:noFill/>
          <a:ln/>
        </p:spPr>
        <p:txBody>
          <a:bodyPr wrap="square" lIns="0" tIns="0" rIns="0" bIns="0" rtlCol="0" anchor="ctr"/>
          <a:lstStyle/>
          <a:p>
            <a:pPr indent="0" marL="0">
              <a:lnSpc>
                <a:spcPct val="110000"/>
              </a:lnSpc>
              <a:buNone/>
            </a:pPr>
            <a:r>
              <a:rPr lang="en-US" sz="1300" dirty="0">
                <a:solidFill>
                  <a:srgbClr val="13294B"/>
                </a:solidFill>
                <a:latin typeface="Calibri" pitchFamily="34" charset="0"/>
                <a:ea typeface="Calibri" pitchFamily="34" charset="-122"/>
                <a:cs typeface="Calibri" pitchFamily="34" charset="-120"/>
              </a:rPr>
              <a:t>25SCS1003005170</a:t>
            </a:r>
            <a:endParaRPr lang="en-US" sz="1300" dirty="0"/>
          </a:p>
        </p:txBody>
      </p:sp>
      <p:sp>
        <p:nvSpPr>
          <p:cNvPr id="26" name="Shape 24"/>
          <p:cNvSpPr/>
          <p:nvPr/>
        </p:nvSpPr>
        <p:spPr>
          <a:xfrm>
            <a:off x="7223760" y="3200400"/>
            <a:ext cx="3931920" cy="1417320"/>
          </a:xfrm>
          <a:prstGeom prst="roundRect">
            <a:avLst>
              <a:gd name="adj" fmla="val 5161"/>
            </a:avLst>
          </a:prstGeom>
          <a:solidFill>
            <a:srgbClr val="F4F7FC"/>
          </a:solidFill>
          <a:ln/>
        </p:spPr>
      </p:sp>
      <p:sp>
        <p:nvSpPr>
          <p:cNvPr id="27" name="Shape 25"/>
          <p:cNvSpPr/>
          <p:nvPr/>
        </p:nvSpPr>
        <p:spPr>
          <a:xfrm>
            <a:off x="7452360" y="3429000"/>
            <a:ext cx="411480" cy="411480"/>
          </a:xfrm>
          <a:prstGeom prst="ellipse">
            <a:avLst/>
          </a:prstGeom>
          <a:solidFill>
            <a:srgbClr val="C97F3F"/>
          </a:solidFill>
          <a:ln/>
        </p:spPr>
      </p:sp>
      <p:sp>
        <p:nvSpPr>
          <p:cNvPr id="28" name="Text 26"/>
          <p:cNvSpPr/>
          <p:nvPr/>
        </p:nvSpPr>
        <p:spPr>
          <a:xfrm>
            <a:off x="7452360" y="3429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8001000" y="3419856"/>
            <a:ext cx="3017520" cy="274320"/>
          </a:xfrm>
          <a:prstGeom prst="rect">
            <a:avLst/>
          </a:prstGeom>
          <a:noFill/>
          <a:ln/>
        </p:spPr>
        <p:txBody>
          <a:bodyPr wrap="square" lIns="0" tIns="0" rIns="0" bIns="0" rtlCol="0" anchor="ctr"/>
          <a:lstStyle/>
          <a:p>
            <a:pPr indent="0" marL="0">
              <a:buNone/>
            </a:pPr>
            <a:r>
              <a:rPr lang="en-US" sz="950" b="1" spc="100" kern="0" dirty="0">
                <a:solidFill>
                  <a:srgbClr val="6E84A6"/>
                </a:solidFill>
                <a:latin typeface="Calibri" pitchFamily="34" charset="0"/>
                <a:ea typeface="Calibri" pitchFamily="34" charset="-122"/>
                <a:cs typeface="Calibri" pitchFamily="34" charset="-120"/>
              </a:rPr>
              <a:t>ACADEMIC YEAR</a:t>
            </a:r>
            <a:endParaRPr lang="en-US" sz="950" dirty="0"/>
          </a:p>
        </p:txBody>
      </p:sp>
      <p:sp>
        <p:nvSpPr>
          <p:cNvPr id="30" name="Text 28"/>
          <p:cNvSpPr/>
          <p:nvPr/>
        </p:nvSpPr>
        <p:spPr>
          <a:xfrm>
            <a:off x="8001000" y="3703320"/>
            <a:ext cx="3017520" cy="685800"/>
          </a:xfrm>
          <a:prstGeom prst="rect">
            <a:avLst/>
          </a:prstGeom>
          <a:noFill/>
          <a:ln/>
        </p:spPr>
        <p:txBody>
          <a:bodyPr wrap="square" lIns="0" tIns="0" rIns="0" bIns="0" rtlCol="0" anchor="ctr"/>
          <a:lstStyle/>
          <a:p>
            <a:pPr indent="0" marL="0">
              <a:lnSpc>
                <a:spcPct val="110000"/>
              </a:lnSpc>
              <a:buNone/>
            </a:pPr>
            <a:r>
              <a:rPr lang="en-US" sz="1300" dirty="0">
                <a:solidFill>
                  <a:srgbClr val="13294B"/>
                </a:solidFill>
                <a:latin typeface="Calibri" pitchFamily="34" charset="0"/>
                <a:ea typeface="Calibri" pitchFamily="34" charset="-122"/>
                <a:cs typeface="Calibri" pitchFamily="34" charset="-120"/>
              </a:rPr>
              <a:t>2026</a:t>
            </a:r>
            <a:endParaRPr lang="en-US" sz="1300" dirty="0"/>
          </a:p>
        </p:txBody>
      </p:sp>
      <p:sp>
        <p:nvSpPr>
          <p:cNvPr id="31" name="Shape 29"/>
          <p:cNvSpPr/>
          <p:nvPr/>
        </p:nvSpPr>
        <p:spPr>
          <a:xfrm>
            <a:off x="3063240" y="4983480"/>
            <a:ext cx="8092440" cy="731520"/>
          </a:xfrm>
          <a:prstGeom prst="roundRect">
            <a:avLst>
              <a:gd name="adj" fmla="val 10000"/>
            </a:avLst>
          </a:prstGeom>
          <a:solidFill>
            <a:srgbClr val="FBEBDD"/>
          </a:solidFill>
          <a:ln/>
        </p:spPr>
      </p:sp>
      <p:sp>
        <p:nvSpPr>
          <p:cNvPr id="32" name="Text 30"/>
          <p:cNvSpPr/>
          <p:nvPr/>
        </p:nvSpPr>
        <p:spPr>
          <a:xfrm>
            <a:off x="3291840" y="5138928"/>
            <a:ext cx="411480" cy="411480"/>
          </a:xfrm>
          <a:prstGeom prst="rect">
            <a:avLst/>
          </a:prstGeom>
          <a:noFill/>
          <a:ln/>
        </p:spPr>
        <p:txBody>
          <a:bodyPr wrap="square" lIns="0" tIns="0" rIns="0" bIns="0" rtlCol="0" anchor="ctr"/>
          <a:lstStyle/>
          <a:p>
            <a:pPr algn="ctr" indent="0" marL="0">
              <a:buNone/>
            </a:pPr>
            <a:r>
              <a:rPr lang="en-US" sz="1300" b="1" dirty="0">
                <a:solidFill>
                  <a:srgbClr val="C97F3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3566160" y="5074920"/>
            <a:ext cx="7452360" cy="548640"/>
          </a:xfrm>
          <a:prstGeom prst="rect">
            <a:avLst/>
          </a:prstGeom>
          <a:noFill/>
          <a:ln/>
        </p:spPr>
        <p:txBody>
          <a:bodyPr wrap="square" lIns="0" tIns="0" rIns="0" bIns="0" rtlCol="0" anchor="ctr"/>
          <a:lstStyle/>
          <a:p>
            <a:pPr indent="0" marL="0">
              <a:lnSpc>
                <a:spcPct val="110000"/>
              </a:lnSpc>
              <a:buNone/>
            </a:pPr>
            <a:r>
              <a:rPr lang="en-US" sz="1050" b="1" dirty="0">
                <a:solidFill>
                  <a:srgbClr val="13294B"/>
                </a:solidFill>
                <a:latin typeface="Calibri" pitchFamily="34" charset="0"/>
                <a:ea typeface="Calibri" pitchFamily="34" charset="-122"/>
                <a:cs typeface="Calibri" pitchFamily="34" charset="-120"/>
              </a:rPr>
              <a:t>Internship Track  </a:t>
            </a:r>
            <a:pPr indent="0" marL="0">
              <a:lnSpc>
                <a:spcPct val="110000"/>
              </a:lnSpc>
              <a:buNone/>
            </a:pPr>
            <a:r>
              <a:rPr lang="en-US" sz="1050" dirty="0">
                <a:solidFill>
                  <a:srgbClr val="13294B"/>
                </a:solidFill>
                <a:latin typeface="Calibri" pitchFamily="34" charset="0"/>
                <a:ea typeface="Calibri" pitchFamily="34" charset="-122"/>
                <a:cs typeface="Calibri" pitchFamily="34" charset="-120"/>
              </a:rPr>
              <a:t>Cyber Security Intern at Codec Technologies — Network Traffic Analysis &amp; Cryptography (AICTE &amp; ICAC Approved, 1 Month)</a:t>
            </a:r>
            <a:endParaRPr lang="en-US" sz="105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35" name="Text 3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ABOUT THE INTERNSHIP</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The Codec Technologies Cyber Security Internship</a:t>
            </a:r>
            <a:endParaRPr lang="en-US" sz="2800" dirty="0"/>
          </a:p>
        </p:txBody>
      </p:sp>
      <p:sp>
        <p:nvSpPr>
          <p:cNvPr id="4" name="Text 2"/>
          <p:cNvSpPr/>
          <p:nvPr/>
        </p:nvSpPr>
        <p:spPr>
          <a:xfrm>
            <a:off x="457200" y="1371600"/>
            <a:ext cx="11155680" cy="548640"/>
          </a:xfrm>
          <a:prstGeom prst="rect">
            <a:avLst/>
          </a:prstGeom>
          <a:noFill/>
          <a:ln/>
        </p:spPr>
        <p:txBody>
          <a:bodyPr wrap="square" lIns="0" tIns="0" rIns="0" bIns="0" rtlCol="0" anchor="ctr"/>
          <a:lstStyle/>
          <a:p>
            <a:pPr indent="0" marL="0">
              <a:lnSpc>
                <a:spcPct val="115000"/>
              </a:lnSpc>
              <a:buNone/>
            </a:pPr>
            <a:r>
              <a:rPr lang="en-US" sz="1300" dirty="0">
                <a:solidFill>
                  <a:srgbClr val="6E84A6"/>
                </a:solidFill>
                <a:latin typeface="Calibri" pitchFamily="34" charset="0"/>
                <a:ea typeface="Calibri" pitchFamily="34" charset="-122"/>
                <a:cs typeface="Calibri" pitchFamily="34" charset="-120"/>
              </a:rPr>
              <a:t>A 1-month, AICTE &amp; ICAC approved, hybrid internship hosted on the National Internship Portal, focused on hands-on network security and applied cryptography, culminating in an official offer letter and completion certificate.</a:t>
            </a:r>
            <a:endParaRPr lang="en-US" sz="1300" dirty="0"/>
          </a:p>
        </p:txBody>
      </p:sp>
      <p:sp>
        <p:nvSpPr>
          <p:cNvPr id="5" name="Shape 3"/>
          <p:cNvSpPr/>
          <p:nvPr/>
        </p:nvSpPr>
        <p:spPr>
          <a:xfrm>
            <a:off x="457200" y="2148840"/>
            <a:ext cx="2697480" cy="2011680"/>
          </a:xfrm>
          <a:prstGeom prst="roundRect">
            <a:avLst>
              <a:gd name="adj" fmla="val 3636"/>
            </a:avLst>
          </a:prstGeom>
          <a:solidFill>
            <a:srgbClr val="F4F7FC"/>
          </a:solidFill>
          <a:ln/>
        </p:spPr>
      </p:sp>
      <p:sp>
        <p:nvSpPr>
          <p:cNvPr id="6" name="Shape 4"/>
          <p:cNvSpPr/>
          <p:nvPr/>
        </p:nvSpPr>
        <p:spPr>
          <a:xfrm>
            <a:off x="457200" y="2148840"/>
            <a:ext cx="2697480" cy="54864"/>
          </a:xfrm>
          <a:prstGeom prst="rect">
            <a:avLst/>
          </a:prstGeom>
          <a:solidFill>
            <a:srgbClr val="1F3D6B"/>
          </a:solidFill>
          <a:ln/>
        </p:spPr>
      </p:sp>
      <p:sp>
        <p:nvSpPr>
          <p:cNvPr id="7" name="Text 5"/>
          <p:cNvSpPr/>
          <p:nvPr/>
        </p:nvSpPr>
        <p:spPr>
          <a:xfrm>
            <a:off x="640080" y="2350008"/>
            <a:ext cx="2331720" cy="274320"/>
          </a:xfrm>
          <a:prstGeom prst="rect">
            <a:avLst/>
          </a:prstGeom>
          <a:noFill/>
          <a:ln/>
        </p:spPr>
        <p:txBody>
          <a:bodyPr wrap="square" lIns="0" tIns="0" rIns="0" bIns="0" rtlCol="0" anchor="ctr"/>
          <a:lstStyle/>
          <a:p>
            <a:pPr indent="0" marL="0">
              <a:buNone/>
            </a:pPr>
            <a:r>
              <a:rPr lang="en-US" sz="950" b="1" spc="100" kern="0" dirty="0">
                <a:solidFill>
                  <a:srgbClr val="C97F3F"/>
                </a:solidFill>
                <a:latin typeface="Calibri" pitchFamily="34" charset="0"/>
                <a:ea typeface="Calibri" pitchFamily="34" charset="-122"/>
                <a:cs typeface="Calibri" pitchFamily="34" charset="-120"/>
              </a:rPr>
              <a:t>ORGANIZATION</a:t>
            </a:r>
            <a:endParaRPr lang="en-US" sz="950" dirty="0"/>
          </a:p>
        </p:txBody>
      </p:sp>
      <p:sp>
        <p:nvSpPr>
          <p:cNvPr id="8" name="Text 6"/>
          <p:cNvSpPr/>
          <p:nvPr/>
        </p:nvSpPr>
        <p:spPr>
          <a:xfrm>
            <a:off x="640080" y="2651760"/>
            <a:ext cx="2331720" cy="685800"/>
          </a:xfrm>
          <a:prstGeom prst="rect">
            <a:avLst/>
          </a:prstGeom>
          <a:noFill/>
          <a:ln/>
        </p:spPr>
        <p:txBody>
          <a:bodyPr wrap="square" lIns="0" tIns="0" rIns="0" bIns="0" rtlCol="0" anchor="ctr"/>
          <a:lstStyle/>
          <a:p>
            <a:pPr indent="0" marL="0">
              <a:lnSpc>
                <a:spcPct val="105000"/>
              </a:lnSpc>
              <a:buNone/>
            </a:pPr>
            <a:r>
              <a:rPr lang="en-US" sz="1500" b="1" dirty="0">
                <a:solidFill>
                  <a:srgbClr val="13294B"/>
                </a:solidFill>
                <a:latin typeface="Cambria" pitchFamily="34" charset="0"/>
                <a:ea typeface="Cambria" pitchFamily="34" charset="-122"/>
                <a:cs typeface="Cambria" pitchFamily="34" charset="-120"/>
              </a:rPr>
              <a:t>Codec Technologies Pvt. Ltd.</a:t>
            </a:r>
            <a:endParaRPr lang="en-US" sz="1500" dirty="0"/>
          </a:p>
        </p:txBody>
      </p:sp>
      <p:sp>
        <p:nvSpPr>
          <p:cNvPr id="9" name="Text 7"/>
          <p:cNvSpPr/>
          <p:nvPr/>
        </p:nvSpPr>
        <p:spPr>
          <a:xfrm>
            <a:off x="640080" y="3383280"/>
            <a:ext cx="2331720" cy="68580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IT and business consultancy platform delivering services across 27+ countries.</a:t>
            </a:r>
            <a:endParaRPr lang="en-US" sz="1000" dirty="0"/>
          </a:p>
        </p:txBody>
      </p:sp>
      <p:sp>
        <p:nvSpPr>
          <p:cNvPr id="10" name="Shape 8"/>
          <p:cNvSpPr/>
          <p:nvPr/>
        </p:nvSpPr>
        <p:spPr>
          <a:xfrm>
            <a:off x="3337560" y="2148840"/>
            <a:ext cx="2697480" cy="2011680"/>
          </a:xfrm>
          <a:prstGeom prst="roundRect">
            <a:avLst>
              <a:gd name="adj" fmla="val 3636"/>
            </a:avLst>
          </a:prstGeom>
          <a:solidFill>
            <a:srgbClr val="F4F7FC"/>
          </a:solidFill>
          <a:ln/>
        </p:spPr>
      </p:sp>
      <p:sp>
        <p:nvSpPr>
          <p:cNvPr id="11" name="Shape 9"/>
          <p:cNvSpPr/>
          <p:nvPr/>
        </p:nvSpPr>
        <p:spPr>
          <a:xfrm>
            <a:off x="3337560" y="2148840"/>
            <a:ext cx="2697480" cy="54864"/>
          </a:xfrm>
          <a:prstGeom prst="rect">
            <a:avLst/>
          </a:prstGeom>
          <a:solidFill>
            <a:srgbClr val="1F3D6B"/>
          </a:solidFill>
          <a:ln/>
        </p:spPr>
      </p:sp>
      <p:sp>
        <p:nvSpPr>
          <p:cNvPr id="12" name="Text 10"/>
          <p:cNvSpPr/>
          <p:nvPr/>
        </p:nvSpPr>
        <p:spPr>
          <a:xfrm>
            <a:off x="3520440" y="2350008"/>
            <a:ext cx="2331720" cy="274320"/>
          </a:xfrm>
          <a:prstGeom prst="rect">
            <a:avLst/>
          </a:prstGeom>
          <a:noFill/>
          <a:ln/>
        </p:spPr>
        <p:txBody>
          <a:bodyPr wrap="square" lIns="0" tIns="0" rIns="0" bIns="0" rtlCol="0" anchor="ctr"/>
          <a:lstStyle/>
          <a:p>
            <a:pPr indent="0" marL="0">
              <a:buNone/>
            </a:pPr>
            <a:r>
              <a:rPr lang="en-US" sz="950" b="1" spc="100" kern="0" dirty="0">
                <a:solidFill>
                  <a:srgbClr val="C97F3F"/>
                </a:solidFill>
                <a:latin typeface="Calibri" pitchFamily="34" charset="0"/>
                <a:ea typeface="Calibri" pitchFamily="34" charset="-122"/>
                <a:cs typeface="Calibri" pitchFamily="34" charset="-120"/>
              </a:rPr>
              <a:t>DESIGNATION</a:t>
            </a:r>
            <a:endParaRPr lang="en-US" sz="950" dirty="0"/>
          </a:p>
        </p:txBody>
      </p:sp>
      <p:sp>
        <p:nvSpPr>
          <p:cNvPr id="13" name="Text 11"/>
          <p:cNvSpPr/>
          <p:nvPr/>
        </p:nvSpPr>
        <p:spPr>
          <a:xfrm>
            <a:off x="3520440" y="2651760"/>
            <a:ext cx="2331720" cy="685800"/>
          </a:xfrm>
          <a:prstGeom prst="rect">
            <a:avLst/>
          </a:prstGeom>
          <a:noFill/>
          <a:ln/>
        </p:spPr>
        <p:txBody>
          <a:bodyPr wrap="square" lIns="0" tIns="0" rIns="0" bIns="0" rtlCol="0" anchor="ctr"/>
          <a:lstStyle/>
          <a:p>
            <a:pPr indent="0" marL="0">
              <a:lnSpc>
                <a:spcPct val="105000"/>
              </a:lnSpc>
              <a:buNone/>
            </a:pPr>
            <a:r>
              <a:rPr lang="en-US" sz="1500" b="1" dirty="0">
                <a:solidFill>
                  <a:srgbClr val="13294B"/>
                </a:solidFill>
                <a:latin typeface="Cambria" pitchFamily="34" charset="0"/>
                <a:ea typeface="Cambria" pitchFamily="34" charset="-122"/>
                <a:cs typeface="Cambria" pitchFamily="34" charset="-120"/>
              </a:rPr>
              <a:t>Cyber Security Intern</a:t>
            </a:r>
            <a:endParaRPr lang="en-US" sz="1500" dirty="0"/>
          </a:p>
        </p:txBody>
      </p:sp>
      <p:sp>
        <p:nvSpPr>
          <p:cNvPr id="14" name="Text 12"/>
          <p:cNvSpPr/>
          <p:nvPr/>
        </p:nvSpPr>
        <p:spPr>
          <a:xfrm>
            <a:off x="3520440" y="3383280"/>
            <a:ext cx="2331720" cy="68580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Assigned to project-based work under designated Project Head(s).</a:t>
            </a:r>
            <a:endParaRPr lang="en-US" sz="1000" dirty="0"/>
          </a:p>
        </p:txBody>
      </p:sp>
      <p:sp>
        <p:nvSpPr>
          <p:cNvPr id="15" name="Shape 13"/>
          <p:cNvSpPr/>
          <p:nvPr/>
        </p:nvSpPr>
        <p:spPr>
          <a:xfrm>
            <a:off x="6217920" y="2148840"/>
            <a:ext cx="2697480" cy="2011680"/>
          </a:xfrm>
          <a:prstGeom prst="roundRect">
            <a:avLst>
              <a:gd name="adj" fmla="val 3636"/>
            </a:avLst>
          </a:prstGeom>
          <a:solidFill>
            <a:srgbClr val="F4F7FC"/>
          </a:solidFill>
          <a:ln/>
        </p:spPr>
      </p:sp>
      <p:sp>
        <p:nvSpPr>
          <p:cNvPr id="16" name="Shape 14"/>
          <p:cNvSpPr/>
          <p:nvPr/>
        </p:nvSpPr>
        <p:spPr>
          <a:xfrm>
            <a:off x="6217920" y="2148840"/>
            <a:ext cx="2697480" cy="54864"/>
          </a:xfrm>
          <a:prstGeom prst="rect">
            <a:avLst/>
          </a:prstGeom>
          <a:solidFill>
            <a:srgbClr val="1F3D6B"/>
          </a:solidFill>
          <a:ln/>
        </p:spPr>
      </p:sp>
      <p:sp>
        <p:nvSpPr>
          <p:cNvPr id="17" name="Text 15"/>
          <p:cNvSpPr/>
          <p:nvPr/>
        </p:nvSpPr>
        <p:spPr>
          <a:xfrm>
            <a:off x="6400800" y="2350008"/>
            <a:ext cx="2331720" cy="274320"/>
          </a:xfrm>
          <a:prstGeom prst="rect">
            <a:avLst/>
          </a:prstGeom>
          <a:noFill/>
          <a:ln/>
        </p:spPr>
        <p:txBody>
          <a:bodyPr wrap="square" lIns="0" tIns="0" rIns="0" bIns="0" rtlCol="0" anchor="ctr"/>
          <a:lstStyle/>
          <a:p>
            <a:pPr indent="0" marL="0">
              <a:buNone/>
            </a:pPr>
            <a:r>
              <a:rPr lang="en-US" sz="950" b="1" spc="100" kern="0" dirty="0">
                <a:solidFill>
                  <a:srgbClr val="C97F3F"/>
                </a:solidFill>
                <a:latin typeface="Calibri" pitchFamily="34" charset="0"/>
                <a:ea typeface="Calibri" pitchFamily="34" charset="-122"/>
                <a:cs typeface="Calibri" pitchFamily="34" charset="-120"/>
              </a:rPr>
              <a:t>DURATION &amp; MODE</a:t>
            </a:r>
            <a:endParaRPr lang="en-US" sz="950" dirty="0"/>
          </a:p>
        </p:txBody>
      </p:sp>
      <p:sp>
        <p:nvSpPr>
          <p:cNvPr id="18" name="Text 16"/>
          <p:cNvSpPr/>
          <p:nvPr/>
        </p:nvSpPr>
        <p:spPr>
          <a:xfrm>
            <a:off x="6400800" y="2651760"/>
            <a:ext cx="2331720" cy="685800"/>
          </a:xfrm>
          <a:prstGeom prst="rect">
            <a:avLst/>
          </a:prstGeom>
          <a:noFill/>
          <a:ln/>
        </p:spPr>
        <p:txBody>
          <a:bodyPr wrap="square" lIns="0" tIns="0" rIns="0" bIns="0" rtlCol="0" anchor="ctr"/>
          <a:lstStyle/>
          <a:p>
            <a:pPr indent="0" marL="0">
              <a:lnSpc>
                <a:spcPct val="105000"/>
              </a:lnSpc>
              <a:buNone/>
            </a:pPr>
            <a:r>
              <a:rPr lang="en-US" sz="1500" b="1" dirty="0">
                <a:solidFill>
                  <a:srgbClr val="13294B"/>
                </a:solidFill>
                <a:latin typeface="Cambria" pitchFamily="34" charset="0"/>
                <a:ea typeface="Cambria" pitchFamily="34" charset="-122"/>
                <a:cs typeface="Cambria" pitchFamily="34" charset="-120"/>
              </a:rPr>
              <a:t>08/06/2026 – 08/07/2026</a:t>
            </a:r>
            <a:endParaRPr lang="en-US" sz="1500" dirty="0"/>
          </a:p>
        </p:txBody>
      </p:sp>
      <p:sp>
        <p:nvSpPr>
          <p:cNvPr id="19" name="Text 17"/>
          <p:cNvSpPr/>
          <p:nvPr/>
        </p:nvSpPr>
        <p:spPr>
          <a:xfrm>
            <a:off x="6400800" y="3383280"/>
            <a:ext cx="2331720" cy="68580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1 Month  |  Pan India, Hybrid delivery.</a:t>
            </a:r>
            <a:endParaRPr lang="en-US" sz="1000" dirty="0"/>
          </a:p>
        </p:txBody>
      </p:sp>
      <p:sp>
        <p:nvSpPr>
          <p:cNvPr id="20" name="Shape 18"/>
          <p:cNvSpPr/>
          <p:nvPr/>
        </p:nvSpPr>
        <p:spPr>
          <a:xfrm>
            <a:off x="9098280" y="2148840"/>
            <a:ext cx="2697480" cy="2011680"/>
          </a:xfrm>
          <a:prstGeom prst="roundRect">
            <a:avLst>
              <a:gd name="adj" fmla="val 3636"/>
            </a:avLst>
          </a:prstGeom>
          <a:solidFill>
            <a:srgbClr val="F4F7FC"/>
          </a:solidFill>
          <a:ln/>
        </p:spPr>
      </p:sp>
      <p:sp>
        <p:nvSpPr>
          <p:cNvPr id="21" name="Shape 19"/>
          <p:cNvSpPr/>
          <p:nvPr/>
        </p:nvSpPr>
        <p:spPr>
          <a:xfrm>
            <a:off x="9098280" y="2148840"/>
            <a:ext cx="2697480" cy="54864"/>
          </a:xfrm>
          <a:prstGeom prst="rect">
            <a:avLst/>
          </a:prstGeom>
          <a:solidFill>
            <a:srgbClr val="1F3D6B"/>
          </a:solidFill>
          <a:ln/>
        </p:spPr>
      </p:sp>
      <p:sp>
        <p:nvSpPr>
          <p:cNvPr id="22" name="Text 20"/>
          <p:cNvSpPr/>
          <p:nvPr/>
        </p:nvSpPr>
        <p:spPr>
          <a:xfrm>
            <a:off x="9281160" y="2350008"/>
            <a:ext cx="2331720" cy="274320"/>
          </a:xfrm>
          <a:prstGeom prst="rect">
            <a:avLst/>
          </a:prstGeom>
          <a:noFill/>
          <a:ln/>
        </p:spPr>
        <p:txBody>
          <a:bodyPr wrap="square" lIns="0" tIns="0" rIns="0" bIns="0" rtlCol="0" anchor="ctr"/>
          <a:lstStyle/>
          <a:p>
            <a:pPr indent="0" marL="0">
              <a:buNone/>
            </a:pPr>
            <a:r>
              <a:rPr lang="en-US" sz="950" b="1" spc="100" kern="0" dirty="0">
                <a:solidFill>
                  <a:srgbClr val="C97F3F"/>
                </a:solidFill>
                <a:latin typeface="Calibri" pitchFamily="34" charset="0"/>
                <a:ea typeface="Calibri" pitchFamily="34" charset="-122"/>
                <a:cs typeface="Calibri" pitchFamily="34" charset="-120"/>
              </a:rPr>
              <a:t>RECOGNITION</a:t>
            </a:r>
            <a:endParaRPr lang="en-US" sz="950" dirty="0"/>
          </a:p>
        </p:txBody>
      </p:sp>
      <p:sp>
        <p:nvSpPr>
          <p:cNvPr id="23" name="Text 21"/>
          <p:cNvSpPr/>
          <p:nvPr/>
        </p:nvSpPr>
        <p:spPr>
          <a:xfrm>
            <a:off x="9281160" y="2651760"/>
            <a:ext cx="2331720" cy="685800"/>
          </a:xfrm>
          <a:prstGeom prst="rect">
            <a:avLst/>
          </a:prstGeom>
          <a:noFill/>
          <a:ln/>
        </p:spPr>
        <p:txBody>
          <a:bodyPr wrap="square" lIns="0" tIns="0" rIns="0" bIns="0" rtlCol="0" anchor="ctr"/>
          <a:lstStyle/>
          <a:p>
            <a:pPr indent="0" marL="0">
              <a:lnSpc>
                <a:spcPct val="105000"/>
              </a:lnSpc>
              <a:buNone/>
            </a:pPr>
            <a:r>
              <a:rPr lang="en-US" sz="1500" b="1" dirty="0">
                <a:solidFill>
                  <a:srgbClr val="13294B"/>
                </a:solidFill>
                <a:latin typeface="Cambria" pitchFamily="34" charset="0"/>
                <a:ea typeface="Cambria" pitchFamily="34" charset="-122"/>
                <a:cs typeface="Cambria" pitchFamily="34" charset="-120"/>
              </a:rPr>
              <a:t>AICTE &amp; ICAC Approved</a:t>
            </a:r>
            <a:endParaRPr lang="en-US" sz="1500" dirty="0"/>
          </a:p>
        </p:txBody>
      </p:sp>
      <p:sp>
        <p:nvSpPr>
          <p:cNvPr id="24" name="Text 22"/>
          <p:cNvSpPr/>
          <p:nvPr/>
        </p:nvSpPr>
        <p:spPr>
          <a:xfrm>
            <a:off x="9281160" y="3383280"/>
            <a:ext cx="2331720" cy="68580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Listed on the National Internship Portal; Google for Education &amp; ISO 9001 partner.</a:t>
            </a:r>
            <a:endParaRPr lang="en-US" sz="1000" dirty="0"/>
          </a:p>
        </p:txBody>
      </p:sp>
      <p:sp>
        <p:nvSpPr>
          <p:cNvPr id="25" name="Shape 23"/>
          <p:cNvSpPr/>
          <p:nvPr/>
        </p:nvSpPr>
        <p:spPr>
          <a:xfrm>
            <a:off x="457200" y="4434840"/>
            <a:ext cx="11155680" cy="1417320"/>
          </a:xfrm>
          <a:prstGeom prst="roundRect">
            <a:avLst>
              <a:gd name="adj" fmla="val 5161"/>
            </a:avLst>
          </a:prstGeom>
          <a:solidFill>
            <a:srgbClr val="FBEBDD"/>
          </a:solidFill>
          <a:ln/>
        </p:spPr>
      </p:sp>
      <p:sp>
        <p:nvSpPr>
          <p:cNvPr id="26" name="Text 24"/>
          <p:cNvSpPr/>
          <p:nvPr/>
        </p:nvSpPr>
        <p:spPr>
          <a:xfrm>
            <a:off x="777240" y="4617720"/>
            <a:ext cx="5486400" cy="274320"/>
          </a:xfrm>
          <a:prstGeom prst="rect">
            <a:avLst/>
          </a:prstGeom>
          <a:noFill/>
          <a:ln/>
        </p:spPr>
        <p:txBody>
          <a:bodyPr wrap="square" lIns="0" tIns="0" rIns="0" bIns="0" rtlCol="0" anchor="ctr"/>
          <a:lstStyle/>
          <a:p>
            <a:pPr indent="0" marL="0">
              <a:buNone/>
            </a:pPr>
            <a:r>
              <a:rPr lang="en-US" sz="1000" b="1" spc="100" kern="0" dirty="0">
                <a:solidFill>
                  <a:srgbClr val="C97F3F"/>
                </a:solidFill>
                <a:latin typeface="Calibri" pitchFamily="34" charset="0"/>
                <a:ea typeface="Calibri" pitchFamily="34" charset="-122"/>
                <a:cs typeface="Calibri" pitchFamily="34" charset="-120"/>
              </a:rPr>
              <a:t>VERIFIED BY DOCUMENTATION</a:t>
            </a:r>
            <a:endParaRPr lang="en-US" sz="1000" dirty="0"/>
          </a:p>
        </p:txBody>
      </p:sp>
      <p:sp>
        <p:nvSpPr>
          <p:cNvPr id="27" name="Text 25"/>
          <p:cNvSpPr/>
          <p:nvPr/>
        </p:nvSpPr>
        <p:spPr>
          <a:xfrm>
            <a:off x="777240" y="4892040"/>
            <a:ext cx="10515600" cy="868680"/>
          </a:xfrm>
          <a:prstGeom prst="rect">
            <a:avLst/>
          </a:prstGeom>
          <a:noFill/>
          <a:ln/>
        </p:spPr>
        <p:txBody>
          <a:bodyPr wrap="square" lIns="0" tIns="0" rIns="0" bIns="0" rtlCol="0" anchor="ctr"/>
          <a:lstStyle/>
          <a:p>
            <a:pPr indent="0" marL="0">
              <a:lnSpc>
                <a:spcPct val="120000"/>
              </a:lnSpc>
              <a:buNone/>
            </a:pPr>
            <a:r>
              <a:rPr lang="en-US" sz="1150" dirty="0">
                <a:solidFill>
                  <a:srgbClr val="13294B"/>
                </a:solidFill>
                <a:latin typeface="Calibri" pitchFamily="34" charset="0"/>
                <a:ea typeface="Calibri" pitchFamily="34" charset="-122"/>
                <a:cs typeface="Calibri" pitchFamily="34" charset="-120"/>
              </a:rPr>
              <a:t>This internship is supported by an official Internship Offer Letter (NCS ID: E19E86-0116588288923, dated 08/06/2026) and a Certificate of Internship (AICTE ID: CORPORATE6759d549ce59e1733940553) issued by Codec Technologies, both reproduced in full on the Internship Verification slide of this report.</a:t>
            </a:r>
            <a:endParaRPr lang="en-US" sz="1150" dirty="0"/>
          </a:p>
        </p:txBody>
      </p:sp>
      <p:sp>
        <p:nvSpPr>
          <p:cNvPr id="28" name="Text 2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29" name="Text 27"/>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PROBLEM STATEMENT</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From Raw Traffic to Trustworthy Systems</a:t>
            </a:r>
            <a:endParaRPr lang="en-US" sz="2800" dirty="0"/>
          </a:p>
        </p:txBody>
      </p:sp>
      <p:sp>
        <p:nvSpPr>
          <p:cNvPr id="4" name="Text 2"/>
          <p:cNvSpPr/>
          <p:nvPr/>
        </p:nvSpPr>
        <p:spPr>
          <a:xfrm>
            <a:off x="457200" y="1417320"/>
            <a:ext cx="10789920" cy="868680"/>
          </a:xfrm>
          <a:prstGeom prst="rect">
            <a:avLst/>
          </a:prstGeom>
          <a:noFill/>
          <a:ln/>
        </p:spPr>
        <p:txBody>
          <a:bodyPr wrap="square" lIns="0" tIns="0" rIns="0" bIns="0" rtlCol="0" anchor="ctr"/>
          <a:lstStyle/>
          <a:p>
            <a:pPr indent="0" marL="0">
              <a:lnSpc>
                <a:spcPct val="120000"/>
              </a:lnSpc>
              <a:buNone/>
            </a:pPr>
            <a:r>
              <a:rPr lang="en-US" sz="1350" dirty="0">
                <a:solidFill>
                  <a:srgbClr val="6E84A6"/>
                </a:solidFill>
                <a:latin typeface="Calibri" pitchFamily="34" charset="0"/>
                <a:ea typeface="Calibri" pitchFamily="34" charset="-122"/>
                <a:cs typeface="Calibri" pitchFamily="34" charset="-120"/>
              </a:rPr>
              <a:t>Modern networks carry sensitive data across untrusted links, and applications routinely need to prove data integrity or keep it confidential. Security teams need repeatable ways to inspect traffic for exposure risks and to apply core cryptographic techniques correctly — the two problems this internship's projects were built to explore.</a:t>
            </a:r>
            <a:endParaRPr lang="en-US" sz="1350" dirty="0"/>
          </a:p>
        </p:txBody>
      </p:sp>
      <p:sp>
        <p:nvSpPr>
          <p:cNvPr id="5" name="Shape 3"/>
          <p:cNvSpPr/>
          <p:nvPr/>
        </p:nvSpPr>
        <p:spPr>
          <a:xfrm>
            <a:off x="457200" y="2606040"/>
            <a:ext cx="2606040" cy="2103120"/>
          </a:xfrm>
          <a:prstGeom prst="roundRect">
            <a:avLst>
              <a:gd name="adj" fmla="val 4348"/>
            </a:avLst>
          </a:prstGeom>
          <a:solidFill>
            <a:srgbClr val="13294B"/>
          </a:solidFill>
          <a:ln/>
        </p:spPr>
      </p:sp>
      <p:sp>
        <p:nvSpPr>
          <p:cNvPr id="6" name="Text 4"/>
          <p:cNvSpPr/>
          <p:nvPr/>
        </p:nvSpPr>
        <p:spPr>
          <a:xfrm>
            <a:off x="640080" y="2770632"/>
            <a:ext cx="731520" cy="548640"/>
          </a:xfrm>
          <a:prstGeom prst="rect">
            <a:avLst/>
          </a:prstGeom>
          <a:noFill/>
          <a:ln/>
        </p:spPr>
        <p:txBody>
          <a:bodyPr wrap="square" lIns="0" tIns="0" rIns="0" bIns="0" rtlCol="0" anchor="ctr"/>
          <a:lstStyle/>
          <a:p>
            <a:pPr indent="0" marL="0">
              <a:buNone/>
            </a:pPr>
            <a:r>
              <a:rPr lang="en-US" sz="2600" b="1" dirty="0">
                <a:solidFill>
                  <a:srgbClr val="C97F3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640080" y="3337560"/>
            <a:ext cx="224028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CAPTURE</a:t>
            </a:r>
            <a:endParaRPr lang="en-US" sz="1300" dirty="0"/>
          </a:p>
        </p:txBody>
      </p:sp>
      <p:sp>
        <p:nvSpPr>
          <p:cNvPr id="8" name="Text 6"/>
          <p:cNvSpPr/>
          <p:nvPr/>
        </p:nvSpPr>
        <p:spPr>
          <a:xfrm>
            <a:off x="640080" y="3749040"/>
            <a:ext cx="2240280" cy="86868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Read raw Ethernet frames and IPv4 packets byte-by-byte.</a:t>
            </a:r>
            <a:endParaRPr lang="en-US" sz="1050" dirty="0"/>
          </a:p>
        </p:txBody>
      </p:sp>
      <p:sp>
        <p:nvSpPr>
          <p:cNvPr id="9" name="Text 7"/>
          <p:cNvSpPr/>
          <p:nvPr/>
        </p:nvSpPr>
        <p:spPr>
          <a:xfrm>
            <a:off x="3081528" y="3429000"/>
            <a:ext cx="192024" cy="457200"/>
          </a:xfrm>
          <a:prstGeom prst="rect">
            <a:avLst/>
          </a:prstGeom>
          <a:noFill/>
          <a:ln/>
        </p:spPr>
        <p:txBody>
          <a:bodyPr wrap="square" lIns="0" tIns="0" rIns="0" bIns="0" rtlCol="0" anchor="ctr"/>
          <a:lstStyle/>
          <a:p>
            <a:pPr algn="ctr" indent="0" marL="0">
              <a:buNone/>
            </a:pPr>
            <a:r>
              <a:rPr lang="en-US" sz="2000" b="1" dirty="0">
                <a:solidFill>
                  <a:srgbClr val="6E84A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291840" y="2606040"/>
            <a:ext cx="2606040" cy="2103120"/>
          </a:xfrm>
          <a:prstGeom prst="roundRect">
            <a:avLst>
              <a:gd name="adj" fmla="val 4348"/>
            </a:avLst>
          </a:prstGeom>
          <a:solidFill>
            <a:srgbClr val="1F3D6B"/>
          </a:solidFill>
          <a:ln/>
        </p:spPr>
      </p:sp>
      <p:sp>
        <p:nvSpPr>
          <p:cNvPr id="11" name="Text 9"/>
          <p:cNvSpPr/>
          <p:nvPr/>
        </p:nvSpPr>
        <p:spPr>
          <a:xfrm>
            <a:off x="3474720" y="2770632"/>
            <a:ext cx="731520" cy="548640"/>
          </a:xfrm>
          <a:prstGeom prst="rect">
            <a:avLst/>
          </a:prstGeom>
          <a:noFill/>
          <a:ln/>
        </p:spPr>
        <p:txBody>
          <a:bodyPr wrap="square" lIns="0" tIns="0" rIns="0" bIns="0" rtlCol="0" anchor="ctr"/>
          <a:lstStyle/>
          <a:p>
            <a:pPr indent="0" marL="0">
              <a:buNone/>
            </a:pPr>
            <a:r>
              <a:rPr lang="en-US" sz="2600" b="1" dirty="0">
                <a:solidFill>
                  <a:srgbClr val="C97F3F"/>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3474720" y="3337560"/>
            <a:ext cx="224028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INSPECT</a:t>
            </a:r>
            <a:endParaRPr lang="en-US" sz="1300" dirty="0"/>
          </a:p>
        </p:txBody>
      </p:sp>
      <p:sp>
        <p:nvSpPr>
          <p:cNvPr id="13" name="Text 11"/>
          <p:cNvSpPr/>
          <p:nvPr/>
        </p:nvSpPr>
        <p:spPr>
          <a:xfrm>
            <a:off x="3474720" y="3749040"/>
            <a:ext cx="2240280" cy="86868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Parse headers and scan payloads for plaintext exposure.</a:t>
            </a:r>
            <a:endParaRPr lang="en-US" sz="1050" dirty="0"/>
          </a:p>
        </p:txBody>
      </p:sp>
      <p:sp>
        <p:nvSpPr>
          <p:cNvPr id="14" name="Text 12"/>
          <p:cNvSpPr/>
          <p:nvPr/>
        </p:nvSpPr>
        <p:spPr>
          <a:xfrm>
            <a:off x="5916168" y="3429000"/>
            <a:ext cx="192024" cy="457200"/>
          </a:xfrm>
          <a:prstGeom prst="rect">
            <a:avLst/>
          </a:prstGeom>
          <a:noFill/>
          <a:ln/>
        </p:spPr>
        <p:txBody>
          <a:bodyPr wrap="square" lIns="0" tIns="0" rIns="0" bIns="0" rtlCol="0" anchor="ctr"/>
          <a:lstStyle/>
          <a:p>
            <a:pPr algn="ctr" indent="0" marL="0">
              <a:buNone/>
            </a:pPr>
            <a:r>
              <a:rPr lang="en-US" sz="2000" b="1" dirty="0">
                <a:solidFill>
                  <a:srgbClr val="6E84A6"/>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6126480" y="2606040"/>
            <a:ext cx="2606040" cy="2103120"/>
          </a:xfrm>
          <a:prstGeom prst="roundRect">
            <a:avLst>
              <a:gd name="adj" fmla="val 4348"/>
            </a:avLst>
          </a:prstGeom>
          <a:solidFill>
            <a:srgbClr val="13294B"/>
          </a:solidFill>
          <a:ln/>
        </p:spPr>
      </p:sp>
      <p:sp>
        <p:nvSpPr>
          <p:cNvPr id="16" name="Text 14"/>
          <p:cNvSpPr/>
          <p:nvPr/>
        </p:nvSpPr>
        <p:spPr>
          <a:xfrm>
            <a:off x="6309360" y="2770632"/>
            <a:ext cx="731520" cy="548640"/>
          </a:xfrm>
          <a:prstGeom prst="rect">
            <a:avLst/>
          </a:prstGeom>
          <a:noFill/>
          <a:ln/>
        </p:spPr>
        <p:txBody>
          <a:bodyPr wrap="square" lIns="0" tIns="0" rIns="0" bIns="0" rtlCol="0" anchor="ctr"/>
          <a:lstStyle/>
          <a:p>
            <a:pPr indent="0" marL="0">
              <a:buNone/>
            </a:pPr>
            <a:r>
              <a:rPr lang="en-US" sz="2600" b="1" dirty="0">
                <a:solidFill>
                  <a:srgbClr val="C97F3F"/>
                </a:solidFill>
                <a:latin typeface="Cambria" pitchFamily="34" charset="0"/>
                <a:ea typeface="Cambria" pitchFamily="34" charset="-122"/>
                <a:cs typeface="Cambria" pitchFamily="34" charset="-120"/>
              </a:rPr>
              <a:t>3</a:t>
            </a:r>
            <a:endParaRPr lang="en-US" sz="2600" dirty="0"/>
          </a:p>
        </p:txBody>
      </p:sp>
      <p:sp>
        <p:nvSpPr>
          <p:cNvPr id="17" name="Text 15"/>
          <p:cNvSpPr/>
          <p:nvPr/>
        </p:nvSpPr>
        <p:spPr>
          <a:xfrm>
            <a:off x="6309360" y="3337560"/>
            <a:ext cx="224028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SECURE</a:t>
            </a:r>
            <a:endParaRPr lang="en-US" sz="1300" dirty="0"/>
          </a:p>
        </p:txBody>
      </p:sp>
      <p:sp>
        <p:nvSpPr>
          <p:cNvPr id="18" name="Text 16"/>
          <p:cNvSpPr/>
          <p:nvPr/>
        </p:nvSpPr>
        <p:spPr>
          <a:xfrm>
            <a:off x="6309360" y="3749040"/>
            <a:ext cx="2240280" cy="86868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Apply hashing and encryption to protect data at rest and in transit.</a:t>
            </a:r>
            <a:endParaRPr lang="en-US" sz="1050" dirty="0"/>
          </a:p>
        </p:txBody>
      </p:sp>
      <p:sp>
        <p:nvSpPr>
          <p:cNvPr id="19" name="Text 17"/>
          <p:cNvSpPr/>
          <p:nvPr/>
        </p:nvSpPr>
        <p:spPr>
          <a:xfrm>
            <a:off x="8750808" y="3429000"/>
            <a:ext cx="192024" cy="457200"/>
          </a:xfrm>
          <a:prstGeom prst="rect">
            <a:avLst/>
          </a:prstGeom>
          <a:noFill/>
          <a:ln/>
        </p:spPr>
        <p:txBody>
          <a:bodyPr wrap="square" lIns="0" tIns="0" rIns="0" bIns="0" rtlCol="0" anchor="ctr"/>
          <a:lstStyle/>
          <a:p>
            <a:pPr algn="ctr" indent="0" marL="0">
              <a:buNone/>
            </a:pPr>
            <a:r>
              <a:rPr lang="en-US" sz="2000" b="1" dirty="0">
                <a:solidFill>
                  <a:srgbClr val="6E84A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8961120" y="2606040"/>
            <a:ext cx="2606040" cy="2103120"/>
          </a:xfrm>
          <a:prstGeom prst="roundRect">
            <a:avLst>
              <a:gd name="adj" fmla="val 4348"/>
            </a:avLst>
          </a:prstGeom>
          <a:solidFill>
            <a:srgbClr val="1F3D6B"/>
          </a:solidFill>
          <a:ln/>
        </p:spPr>
      </p:sp>
      <p:sp>
        <p:nvSpPr>
          <p:cNvPr id="21" name="Text 19"/>
          <p:cNvSpPr/>
          <p:nvPr/>
        </p:nvSpPr>
        <p:spPr>
          <a:xfrm>
            <a:off x="9144000" y="2770632"/>
            <a:ext cx="731520" cy="548640"/>
          </a:xfrm>
          <a:prstGeom prst="rect">
            <a:avLst/>
          </a:prstGeom>
          <a:noFill/>
          <a:ln/>
        </p:spPr>
        <p:txBody>
          <a:bodyPr wrap="square" lIns="0" tIns="0" rIns="0" bIns="0" rtlCol="0" anchor="ctr"/>
          <a:lstStyle/>
          <a:p>
            <a:pPr indent="0" marL="0">
              <a:buNone/>
            </a:pPr>
            <a:r>
              <a:rPr lang="en-US" sz="2600" b="1" dirty="0">
                <a:solidFill>
                  <a:srgbClr val="C97F3F"/>
                </a:solidFill>
                <a:latin typeface="Cambria" pitchFamily="34" charset="0"/>
                <a:ea typeface="Cambria" pitchFamily="34" charset="-122"/>
                <a:cs typeface="Cambria" pitchFamily="34" charset="-120"/>
              </a:rPr>
              <a:t>4</a:t>
            </a:r>
            <a:endParaRPr lang="en-US" sz="2600" dirty="0"/>
          </a:p>
        </p:txBody>
      </p:sp>
      <p:sp>
        <p:nvSpPr>
          <p:cNvPr id="22" name="Text 20"/>
          <p:cNvSpPr/>
          <p:nvPr/>
        </p:nvSpPr>
        <p:spPr>
          <a:xfrm>
            <a:off x="9144000" y="3337560"/>
            <a:ext cx="224028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VALIDATE</a:t>
            </a:r>
            <a:endParaRPr lang="en-US" sz="1300" dirty="0"/>
          </a:p>
        </p:txBody>
      </p:sp>
      <p:sp>
        <p:nvSpPr>
          <p:cNvPr id="23" name="Text 21"/>
          <p:cNvSpPr/>
          <p:nvPr/>
        </p:nvSpPr>
        <p:spPr>
          <a:xfrm>
            <a:off x="9144000" y="3749040"/>
            <a:ext cx="2240280" cy="86868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Confirm findings and cryptographic outputs are correct and repeatable.</a:t>
            </a:r>
            <a:endParaRPr lang="en-US" sz="105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25" name="Text 2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PROJECT OBJECTIVES</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What This Internship Set Out to Achieve</a:t>
            </a:r>
            <a:endParaRPr lang="en-US" sz="2800" dirty="0"/>
          </a:p>
        </p:txBody>
      </p:sp>
      <p:sp>
        <p:nvSpPr>
          <p:cNvPr id="4" name="Shape 2"/>
          <p:cNvSpPr/>
          <p:nvPr/>
        </p:nvSpPr>
        <p:spPr>
          <a:xfrm>
            <a:off x="457200" y="1463040"/>
            <a:ext cx="3611880" cy="1691640"/>
          </a:xfrm>
          <a:prstGeom prst="roundRect">
            <a:avLst>
              <a:gd name="adj" fmla="val 4324"/>
            </a:avLst>
          </a:prstGeom>
          <a:solidFill>
            <a:srgbClr val="F4F7FC"/>
          </a:solidFill>
          <a:ln/>
        </p:spPr>
      </p:sp>
      <p:sp>
        <p:nvSpPr>
          <p:cNvPr id="5" name="Shape 3"/>
          <p:cNvSpPr/>
          <p:nvPr/>
        </p:nvSpPr>
        <p:spPr>
          <a:xfrm>
            <a:off x="658368" y="1645920"/>
            <a:ext cx="384048" cy="384048"/>
          </a:xfrm>
          <a:prstGeom prst="ellipse">
            <a:avLst/>
          </a:prstGeom>
          <a:solidFill>
            <a:srgbClr val="1F3D6B"/>
          </a:solidFill>
          <a:ln/>
        </p:spPr>
      </p:sp>
      <p:sp>
        <p:nvSpPr>
          <p:cNvPr id="6" name="Text 4"/>
          <p:cNvSpPr/>
          <p:nvPr/>
        </p:nvSpPr>
        <p:spPr>
          <a:xfrm>
            <a:off x="658368"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208483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Parse Ethernet Frames</a:t>
            </a:r>
            <a:endParaRPr lang="en-US" sz="1250" dirty="0"/>
          </a:p>
        </p:txBody>
      </p:sp>
      <p:sp>
        <p:nvSpPr>
          <p:cNvPr id="8" name="Text 6"/>
          <p:cNvSpPr/>
          <p:nvPr/>
        </p:nvSpPr>
        <p:spPr>
          <a:xfrm>
            <a:off x="658368" y="242316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Decode source/destination MAC addresses and the encapsulated protocol from raw byte data.</a:t>
            </a:r>
            <a:endParaRPr lang="en-US" sz="1000" dirty="0"/>
          </a:p>
        </p:txBody>
      </p:sp>
      <p:sp>
        <p:nvSpPr>
          <p:cNvPr id="9" name="Shape 7"/>
          <p:cNvSpPr/>
          <p:nvPr/>
        </p:nvSpPr>
        <p:spPr>
          <a:xfrm>
            <a:off x="4251960" y="1463040"/>
            <a:ext cx="3611880" cy="1691640"/>
          </a:xfrm>
          <a:prstGeom prst="roundRect">
            <a:avLst>
              <a:gd name="adj" fmla="val 4324"/>
            </a:avLst>
          </a:prstGeom>
          <a:solidFill>
            <a:srgbClr val="F4F7FC"/>
          </a:solidFill>
          <a:ln/>
        </p:spPr>
      </p:sp>
      <p:sp>
        <p:nvSpPr>
          <p:cNvPr id="10" name="Shape 8"/>
          <p:cNvSpPr/>
          <p:nvPr/>
        </p:nvSpPr>
        <p:spPr>
          <a:xfrm>
            <a:off x="4453128" y="1645920"/>
            <a:ext cx="384048" cy="384048"/>
          </a:xfrm>
          <a:prstGeom prst="ellipse">
            <a:avLst/>
          </a:prstGeom>
          <a:solidFill>
            <a:srgbClr val="1F3D6B"/>
          </a:solidFill>
          <a:ln/>
        </p:spPr>
      </p:sp>
      <p:sp>
        <p:nvSpPr>
          <p:cNvPr id="11" name="Text 9"/>
          <p:cNvSpPr/>
          <p:nvPr/>
        </p:nvSpPr>
        <p:spPr>
          <a:xfrm>
            <a:off x="4453128"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453128" y="208483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Decode IPv4 Headers</a:t>
            </a:r>
            <a:endParaRPr lang="en-US" sz="1250" dirty="0"/>
          </a:p>
        </p:txBody>
      </p:sp>
      <p:sp>
        <p:nvSpPr>
          <p:cNvPr id="13" name="Text 11"/>
          <p:cNvSpPr/>
          <p:nvPr/>
        </p:nvSpPr>
        <p:spPr>
          <a:xfrm>
            <a:off x="4453128" y="242316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Extract TTL, protocol ID, and source/target IP addresses using Python's struct module.</a:t>
            </a:r>
            <a:endParaRPr lang="en-US" sz="1000" dirty="0"/>
          </a:p>
        </p:txBody>
      </p:sp>
      <p:sp>
        <p:nvSpPr>
          <p:cNvPr id="14" name="Shape 12"/>
          <p:cNvSpPr/>
          <p:nvPr/>
        </p:nvSpPr>
        <p:spPr>
          <a:xfrm>
            <a:off x="8046720" y="1463040"/>
            <a:ext cx="3611880" cy="1691640"/>
          </a:xfrm>
          <a:prstGeom prst="roundRect">
            <a:avLst>
              <a:gd name="adj" fmla="val 4324"/>
            </a:avLst>
          </a:prstGeom>
          <a:solidFill>
            <a:srgbClr val="F4F7FC"/>
          </a:solidFill>
          <a:ln/>
        </p:spPr>
      </p:sp>
      <p:sp>
        <p:nvSpPr>
          <p:cNvPr id="15" name="Shape 13"/>
          <p:cNvSpPr/>
          <p:nvPr/>
        </p:nvSpPr>
        <p:spPr>
          <a:xfrm>
            <a:off x="8247888" y="1645920"/>
            <a:ext cx="384048" cy="384048"/>
          </a:xfrm>
          <a:prstGeom prst="ellipse">
            <a:avLst/>
          </a:prstGeom>
          <a:solidFill>
            <a:srgbClr val="1F3D6B"/>
          </a:solidFill>
          <a:ln/>
        </p:spPr>
      </p:sp>
      <p:sp>
        <p:nvSpPr>
          <p:cNvPr id="16" name="Text 14"/>
          <p:cNvSpPr/>
          <p:nvPr/>
        </p:nvSpPr>
        <p:spPr>
          <a:xfrm>
            <a:off x="8247888"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247888" y="208483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Detect Plaintext Exposure</a:t>
            </a:r>
            <a:endParaRPr lang="en-US" sz="1250" dirty="0"/>
          </a:p>
        </p:txBody>
      </p:sp>
      <p:sp>
        <p:nvSpPr>
          <p:cNvPr id="18" name="Text 16"/>
          <p:cNvSpPr/>
          <p:nvPr/>
        </p:nvSpPr>
        <p:spPr>
          <a:xfrm>
            <a:off x="8247888" y="242316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Inspect payloads for unencrypted HTTP traffic (e.g. GET/POST requests, login data).</a:t>
            </a:r>
            <a:endParaRPr lang="en-US" sz="1000" dirty="0"/>
          </a:p>
        </p:txBody>
      </p:sp>
      <p:sp>
        <p:nvSpPr>
          <p:cNvPr id="19" name="Shape 17"/>
          <p:cNvSpPr/>
          <p:nvPr/>
        </p:nvSpPr>
        <p:spPr>
          <a:xfrm>
            <a:off x="457200" y="3337560"/>
            <a:ext cx="3611880" cy="1691640"/>
          </a:xfrm>
          <a:prstGeom prst="roundRect">
            <a:avLst>
              <a:gd name="adj" fmla="val 4324"/>
            </a:avLst>
          </a:prstGeom>
          <a:solidFill>
            <a:srgbClr val="F4F7FC"/>
          </a:solidFill>
          <a:ln/>
        </p:spPr>
      </p:sp>
      <p:sp>
        <p:nvSpPr>
          <p:cNvPr id="20" name="Shape 18"/>
          <p:cNvSpPr/>
          <p:nvPr/>
        </p:nvSpPr>
        <p:spPr>
          <a:xfrm>
            <a:off x="658368" y="3520440"/>
            <a:ext cx="384048" cy="384048"/>
          </a:xfrm>
          <a:prstGeom prst="ellipse">
            <a:avLst/>
          </a:prstGeom>
          <a:solidFill>
            <a:srgbClr val="1F3D6B"/>
          </a:solidFill>
          <a:ln/>
        </p:spPr>
      </p:sp>
      <p:sp>
        <p:nvSpPr>
          <p:cNvPr id="21" name="Text 19"/>
          <p:cNvSpPr/>
          <p:nvPr/>
        </p:nvSpPr>
        <p:spPr>
          <a:xfrm>
            <a:off x="658368"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58368" y="395935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Document Findings Clearly</a:t>
            </a:r>
            <a:endParaRPr lang="en-US" sz="1250" dirty="0"/>
          </a:p>
        </p:txBody>
      </p:sp>
      <p:sp>
        <p:nvSpPr>
          <p:cNvPr id="23" name="Text 21"/>
          <p:cNvSpPr/>
          <p:nvPr/>
        </p:nvSpPr>
        <p:spPr>
          <a:xfrm>
            <a:off x="658368" y="429768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Present frame, header, and security analysis in a structured console report.</a:t>
            </a:r>
            <a:endParaRPr lang="en-US" sz="1000" dirty="0"/>
          </a:p>
        </p:txBody>
      </p:sp>
      <p:sp>
        <p:nvSpPr>
          <p:cNvPr id="24" name="Shape 22"/>
          <p:cNvSpPr/>
          <p:nvPr/>
        </p:nvSpPr>
        <p:spPr>
          <a:xfrm>
            <a:off x="4251960" y="3337560"/>
            <a:ext cx="3611880" cy="1691640"/>
          </a:xfrm>
          <a:prstGeom prst="roundRect">
            <a:avLst>
              <a:gd name="adj" fmla="val 4324"/>
            </a:avLst>
          </a:prstGeom>
          <a:solidFill>
            <a:srgbClr val="F4F7FC"/>
          </a:solidFill>
          <a:ln/>
        </p:spPr>
      </p:sp>
      <p:sp>
        <p:nvSpPr>
          <p:cNvPr id="25" name="Shape 23"/>
          <p:cNvSpPr/>
          <p:nvPr/>
        </p:nvSpPr>
        <p:spPr>
          <a:xfrm>
            <a:off x="4453128" y="3520440"/>
            <a:ext cx="384048" cy="384048"/>
          </a:xfrm>
          <a:prstGeom prst="ellipse">
            <a:avLst/>
          </a:prstGeom>
          <a:solidFill>
            <a:srgbClr val="1F3D6B"/>
          </a:solidFill>
          <a:ln/>
        </p:spPr>
      </p:sp>
      <p:sp>
        <p:nvSpPr>
          <p:cNvPr id="26" name="Text 24"/>
          <p:cNvSpPr/>
          <p:nvPr/>
        </p:nvSpPr>
        <p:spPr>
          <a:xfrm>
            <a:off x="4453128"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4453128" y="395935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Implement Hashing &amp; Encryption</a:t>
            </a:r>
            <a:endParaRPr lang="en-US" sz="1250" dirty="0"/>
          </a:p>
        </p:txBody>
      </p:sp>
      <p:sp>
        <p:nvSpPr>
          <p:cNvPr id="28" name="Text 26"/>
          <p:cNvSpPr/>
          <p:nvPr/>
        </p:nvSpPr>
        <p:spPr>
          <a:xfrm>
            <a:off x="4453128" y="429768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Build SHA-256 integrity hashing and a symmetric XOR cipher with encrypt/decrypt support.</a:t>
            </a:r>
            <a:endParaRPr lang="en-US" sz="1000" dirty="0"/>
          </a:p>
        </p:txBody>
      </p:sp>
      <p:sp>
        <p:nvSpPr>
          <p:cNvPr id="29" name="Shape 27"/>
          <p:cNvSpPr/>
          <p:nvPr/>
        </p:nvSpPr>
        <p:spPr>
          <a:xfrm>
            <a:off x="8046720" y="3337560"/>
            <a:ext cx="3611880" cy="1691640"/>
          </a:xfrm>
          <a:prstGeom prst="roundRect">
            <a:avLst>
              <a:gd name="adj" fmla="val 4324"/>
            </a:avLst>
          </a:prstGeom>
          <a:solidFill>
            <a:srgbClr val="F4F7FC"/>
          </a:solidFill>
          <a:ln/>
        </p:spPr>
      </p:sp>
      <p:sp>
        <p:nvSpPr>
          <p:cNvPr id="30" name="Shape 28"/>
          <p:cNvSpPr/>
          <p:nvPr/>
        </p:nvSpPr>
        <p:spPr>
          <a:xfrm>
            <a:off x="8247888" y="3520440"/>
            <a:ext cx="384048" cy="384048"/>
          </a:xfrm>
          <a:prstGeom prst="ellipse">
            <a:avLst/>
          </a:prstGeom>
          <a:solidFill>
            <a:srgbClr val="1F3D6B"/>
          </a:solidFill>
          <a:ln/>
        </p:spPr>
      </p:sp>
      <p:sp>
        <p:nvSpPr>
          <p:cNvPr id="31" name="Text 29"/>
          <p:cNvSpPr/>
          <p:nvPr/>
        </p:nvSpPr>
        <p:spPr>
          <a:xfrm>
            <a:off x="8247888"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247888" y="395935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Simulate Asymmetric Keys</a:t>
            </a:r>
            <a:endParaRPr lang="en-US" sz="1250" dirty="0"/>
          </a:p>
        </p:txBody>
      </p:sp>
      <p:sp>
        <p:nvSpPr>
          <p:cNvPr id="33" name="Text 31"/>
          <p:cNvSpPr/>
          <p:nvPr/>
        </p:nvSpPr>
        <p:spPr>
          <a:xfrm>
            <a:off x="8247888" y="4297680"/>
            <a:ext cx="3209544" cy="64008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Demonstrate RSA public/private key generation using small prime values.</a:t>
            </a:r>
            <a:endParaRPr lang="en-US" sz="100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35" name="Text 3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PROJECT OVERVIEW</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Two Independent Tools, One Security Mindset</a:t>
            </a:r>
            <a:endParaRPr lang="en-US" sz="2800" dirty="0"/>
          </a:p>
        </p:txBody>
      </p:sp>
      <p:sp>
        <p:nvSpPr>
          <p:cNvPr id="4" name="Text 2"/>
          <p:cNvSpPr/>
          <p:nvPr/>
        </p:nvSpPr>
        <p:spPr>
          <a:xfrm>
            <a:off x="457200" y="1371600"/>
            <a:ext cx="10789920" cy="502920"/>
          </a:xfrm>
          <a:prstGeom prst="rect">
            <a:avLst/>
          </a:prstGeom>
          <a:noFill/>
          <a:ln/>
        </p:spPr>
        <p:txBody>
          <a:bodyPr wrap="square" lIns="0" tIns="0" rIns="0" bIns="0" rtlCol="0" anchor="ctr"/>
          <a:lstStyle/>
          <a:p>
            <a:pPr indent="0" marL="0">
              <a:lnSpc>
                <a:spcPct val="115000"/>
              </a:lnSpc>
              <a:buNone/>
            </a:pPr>
            <a:r>
              <a:rPr lang="en-US" sz="1250" dirty="0">
                <a:solidFill>
                  <a:srgbClr val="6E84A6"/>
                </a:solidFill>
                <a:latin typeface="Calibri" pitchFamily="34" charset="0"/>
                <a:ea typeface="Calibri" pitchFamily="34" charset="-122"/>
                <a:cs typeface="Calibri" pitchFamily="34" charset="-120"/>
              </a:rPr>
              <a:t>The internship's technical work was organized into two Python-based deliverables: one inspects live network traffic for exposure risks, the other implements the cryptographic building blocks used to prevent that exposure.</a:t>
            </a:r>
            <a:endParaRPr lang="en-US" sz="1250" dirty="0"/>
          </a:p>
        </p:txBody>
      </p:sp>
      <p:sp>
        <p:nvSpPr>
          <p:cNvPr id="5" name="Shape 3"/>
          <p:cNvSpPr/>
          <p:nvPr/>
        </p:nvSpPr>
        <p:spPr>
          <a:xfrm>
            <a:off x="457200" y="2057400"/>
            <a:ext cx="5394960" cy="4023360"/>
          </a:xfrm>
          <a:prstGeom prst="roundRect">
            <a:avLst>
              <a:gd name="adj" fmla="val 1818"/>
            </a:avLst>
          </a:prstGeom>
          <a:solidFill>
            <a:srgbClr val="13294B"/>
          </a:solidFill>
          <a:ln/>
        </p:spPr>
      </p:sp>
      <p:sp>
        <p:nvSpPr>
          <p:cNvPr id="6" name="Text 4"/>
          <p:cNvSpPr/>
          <p:nvPr/>
        </p:nvSpPr>
        <p:spPr>
          <a:xfrm>
            <a:off x="731520" y="2286000"/>
            <a:ext cx="2743200" cy="32004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TASK 1</a:t>
            </a:r>
            <a:endParaRPr lang="en-US" sz="1100" dirty="0"/>
          </a:p>
        </p:txBody>
      </p:sp>
      <p:sp>
        <p:nvSpPr>
          <p:cNvPr id="7" name="Text 5"/>
          <p:cNvSpPr/>
          <p:nvPr/>
        </p:nvSpPr>
        <p:spPr>
          <a:xfrm>
            <a:off x="731520" y="2606040"/>
            <a:ext cx="4846320" cy="640080"/>
          </a:xfrm>
          <a:prstGeom prst="rect">
            <a:avLst/>
          </a:prstGeom>
          <a:noFill/>
          <a:ln/>
        </p:spPr>
        <p:txBody>
          <a:bodyPr wrap="square" lIns="0" tIns="0" rIns="0" bIns="0" rtlCol="0" anchor="ctr"/>
          <a:lstStyle/>
          <a:p>
            <a:pPr indent="0" marL="0">
              <a:lnSpc>
                <a:spcPct val="105000"/>
              </a:lnSpc>
              <a:buNone/>
            </a:pPr>
            <a:r>
              <a:rPr lang="en-US" sz="1700" b="1" dirty="0">
                <a:solidFill>
                  <a:srgbClr val="FFFFFF"/>
                </a:solidFill>
                <a:latin typeface="Cambria" pitchFamily="34" charset="0"/>
                <a:ea typeface="Cambria" pitchFamily="34" charset="-122"/>
                <a:cs typeface="Cambria" pitchFamily="34" charset="-120"/>
              </a:rPr>
              <a:t>Network Traffic Analyzer &amp; Packet Inspector</a:t>
            </a:r>
            <a:endParaRPr lang="en-US" sz="1700" dirty="0"/>
          </a:p>
        </p:txBody>
      </p:sp>
      <p:sp>
        <p:nvSpPr>
          <p:cNvPr id="8" name="Text 6"/>
          <p:cNvSpPr/>
          <p:nvPr/>
        </p:nvSpPr>
        <p:spPr>
          <a:xfrm>
            <a:off x="731520" y="3429000"/>
            <a:ext cx="484632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Parses raw Ethernet frames (MAC addresses, protocol)</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Decodes IPv4 headers via Python's struct module</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Extracts source &amp; destination IP addresses, TTL</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Scans payloads for unencrypted HTTP requests</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Flags plaintext credentials with a WARNING alert</a:t>
            </a:r>
            <a:endParaRPr lang="en-US" sz="1250" dirty="0"/>
          </a:p>
        </p:txBody>
      </p:sp>
      <p:sp>
        <p:nvSpPr>
          <p:cNvPr id="9" name="Shape 7"/>
          <p:cNvSpPr/>
          <p:nvPr/>
        </p:nvSpPr>
        <p:spPr>
          <a:xfrm>
            <a:off x="6217920" y="2057400"/>
            <a:ext cx="5394960" cy="4023360"/>
          </a:xfrm>
          <a:prstGeom prst="roundRect">
            <a:avLst>
              <a:gd name="adj" fmla="val 1818"/>
            </a:avLst>
          </a:prstGeom>
          <a:solidFill>
            <a:srgbClr val="1F3D6B"/>
          </a:solidFill>
          <a:ln/>
        </p:spPr>
      </p:sp>
      <p:sp>
        <p:nvSpPr>
          <p:cNvPr id="10" name="Text 8"/>
          <p:cNvSpPr/>
          <p:nvPr/>
        </p:nvSpPr>
        <p:spPr>
          <a:xfrm>
            <a:off x="6492240" y="2286000"/>
            <a:ext cx="2743200" cy="32004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TASK 2</a:t>
            </a:r>
            <a:endParaRPr lang="en-US" sz="1100" dirty="0"/>
          </a:p>
        </p:txBody>
      </p:sp>
      <p:sp>
        <p:nvSpPr>
          <p:cNvPr id="11" name="Text 9"/>
          <p:cNvSpPr/>
          <p:nvPr/>
        </p:nvSpPr>
        <p:spPr>
          <a:xfrm>
            <a:off x="6492240" y="2606040"/>
            <a:ext cx="4846320" cy="640080"/>
          </a:xfrm>
          <a:prstGeom prst="rect">
            <a:avLst/>
          </a:prstGeom>
          <a:noFill/>
          <a:ln/>
        </p:spPr>
        <p:txBody>
          <a:bodyPr wrap="square" lIns="0" tIns="0" rIns="0" bIns="0" rtlCol="0" anchor="ctr"/>
          <a:lstStyle/>
          <a:p>
            <a:pPr indent="0" marL="0">
              <a:lnSpc>
                <a:spcPct val="105000"/>
              </a:lnSpc>
              <a:buNone/>
            </a:pPr>
            <a:r>
              <a:rPr lang="en-US" sz="1700" b="1" dirty="0">
                <a:solidFill>
                  <a:srgbClr val="FFFFFF"/>
                </a:solidFill>
                <a:latin typeface="Cambria" pitchFamily="34" charset="0"/>
                <a:ea typeface="Cambria" pitchFamily="34" charset="-122"/>
                <a:cs typeface="Cambria" pitchFamily="34" charset="-120"/>
              </a:rPr>
              <a:t>Cryptography &amp; Hashing Implementation</a:t>
            </a:r>
            <a:endParaRPr lang="en-US" sz="1700" dirty="0"/>
          </a:p>
        </p:txBody>
      </p:sp>
      <p:sp>
        <p:nvSpPr>
          <p:cNvPr id="12" name="Text 10"/>
          <p:cNvSpPr/>
          <p:nvPr/>
        </p:nvSpPr>
        <p:spPr>
          <a:xfrm>
            <a:off x="6492240" y="3429000"/>
            <a:ext cx="484632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SHA-256 hashing for message integrity checks</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Symmetric XOR cipher with encrypt &amp; decrypt</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Hex-encoded ciphertext for safe display/storage</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RSA public/private key pair simulation</a:t>
            </a:r>
            <a:endParaRPr lang="en-US" sz="1250" dirty="0"/>
          </a:p>
          <a:p>
            <a:pPr marL="342900" indent="-342900">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Console demo verifying encrypt → decrypt round-trip</a:t>
            </a:r>
            <a:endParaRPr lang="en-US" sz="1250" dirty="0"/>
          </a:p>
        </p:txBody>
      </p:sp>
      <p:sp>
        <p:nvSpPr>
          <p:cNvPr id="13" name="Text 11"/>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14" name="Text 12"/>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TASK 1 — DATA EXTRACTION</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Parsing Ethernet Frames &amp; IPv4 Headers</a:t>
            </a:r>
            <a:endParaRPr lang="en-US" sz="2800" dirty="0"/>
          </a:p>
        </p:txBody>
      </p:sp>
      <p:sp>
        <p:nvSpPr>
          <p:cNvPr id="4" name="Text 2"/>
          <p:cNvSpPr/>
          <p:nvPr/>
        </p:nvSpPr>
        <p:spPr>
          <a:xfrm>
            <a:off x="457200" y="1371600"/>
            <a:ext cx="11155680" cy="502920"/>
          </a:xfrm>
          <a:prstGeom prst="rect">
            <a:avLst/>
          </a:prstGeom>
          <a:noFill/>
          <a:ln/>
        </p:spPr>
        <p:txBody>
          <a:bodyPr wrap="square" lIns="0" tIns="0" rIns="0" bIns="0" rtlCol="0" anchor="ctr"/>
          <a:lstStyle/>
          <a:p>
            <a:pPr indent="0" marL="0">
              <a:lnSpc>
                <a:spcPct val="115000"/>
              </a:lnSpc>
              <a:buNone/>
            </a:pPr>
            <a:r>
              <a:rPr lang="en-US" sz="1250" dirty="0">
                <a:solidFill>
                  <a:srgbClr val="6E84A6"/>
                </a:solidFill>
                <a:latin typeface="Calibri" pitchFamily="34" charset="0"/>
                <a:ea typeface="Calibri" pitchFamily="34" charset="-122"/>
                <a:cs typeface="Calibri" pitchFamily="34" charset="-120"/>
              </a:rPr>
              <a:t>The analyzer unpacks raw byte data using Python's struct module, first at the Ethernet layer, then the IPv4 layer, to recover human-readable addressing information.</a:t>
            </a:r>
            <a:endParaRPr lang="en-US" sz="1250" dirty="0"/>
          </a:p>
        </p:txBody>
      </p:sp>
      <p:sp>
        <p:nvSpPr>
          <p:cNvPr id="5" name="Shape 3"/>
          <p:cNvSpPr/>
          <p:nvPr/>
        </p:nvSpPr>
        <p:spPr>
          <a:xfrm>
            <a:off x="457200" y="2057400"/>
            <a:ext cx="1783080" cy="685800"/>
          </a:xfrm>
          <a:prstGeom prst="roundRect">
            <a:avLst>
              <a:gd name="adj" fmla="val 8000"/>
            </a:avLst>
          </a:prstGeom>
          <a:solidFill>
            <a:srgbClr val="F4F7FC"/>
          </a:solidFill>
          <a:ln/>
        </p:spPr>
      </p:sp>
      <p:sp>
        <p:nvSpPr>
          <p:cNvPr id="6" name="Text 4"/>
          <p:cNvSpPr/>
          <p:nvPr/>
        </p:nvSpPr>
        <p:spPr>
          <a:xfrm>
            <a:off x="53035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Destination MAC</a:t>
            </a:r>
            <a:endParaRPr lang="en-US" sz="1050" dirty="0"/>
          </a:p>
        </p:txBody>
      </p:sp>
      <p:sp>
        <p:nvSpPr>
          <p:cNvPr id="7" name="Shape 5"/>
          <p:cNvSpPr/>
          <p:nvPr/>
        </p:nvSpPr>
        <p:spPr>
          <a:xfrm>
            <a:off x="2331720" y="2057400"/>
            <a:ext cx="1783080" cy="685800"/>
          </a:xfrm>
          <a:prstGeom prst="roundRect">
            <a:avLst>
              <a:gd name="adj" fmla="val 8000"/>
            </a:avLst>
          </a:prstGeom>
          <a:solidFill>
            <a:srgbClr val="F4F7FC"/>
          </a:solidFill>
          <a:ln/>
        </p:spPr>
      </p:sp>
      <p:sp>
        <p:nvSpPr>
          <p:cNvPr id="8" name="Text 6"/>
          <p:cNvSpPr/>
          <p:nvPr/>
        </p:nvSpPr>
        <p:spPr>
          <a:xfrm>
            <a:off x="240487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Source MAC</a:t>
            </a:r>
            <a:endParaRPr lang="en-US" sz="1050" dirty="0"/>
          </a:p>
        </p:txBody>
      </p:sp>
      <p:sp>
        <p:nvSpPr>
          <p:cNvPr id="9" name="Shape 7"/>
          <p:cNvSpPr/>
          <p:nvPr/>
        </p:nvSpPr>
        <p:spPr>
          <a:xfrm>
            <a:off x="4206240" y="2057400"/>
            <a:ext cx="1783080" cy="685800"/>
          </a:xfrm>
          <a:prstGeom prst="roundRect">
            <a:avLst>
              <a:gd name="adj" fmla="val 8000"/>
            </a:avLst>
          </a:prstGeom>
          <a:solidFill>
            <a:srgbClr val="F4F7FC"/>
          </a:solidFill>
          <a:ln/>
        </p:spPr>
      </p:sp>
      <p:sp>
        <p:nvSpPr>
          <p:cNvPr id="10" name="Text 8"/>
          <p:cNvSpPr/>
          <p:nvPr/>
        </p:nvSpPr>
        <p:spPr>
          <a:xfrm>
            <a:off x="427939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EtherType</a:t>
            </a:r>
            <a:endParaRPr lang="en-US" sz="1050" dirty="0"/>
          </a:p>
        </p:txBody>
      </p:sp>
      <p:sp>
        <p:nvSpPr>
          <p:cNvPr id="11" name="Shape 9"/>
          <p:cNvSpPr/>
          <p:nvPr/>
        </p:nvSpPr>
        <p:spPr>
          <a:xfrm>
            <a:off x="6080760" y="2057400"/>
            <a:ext cx="1783080" cy="685800"/>
          </a:xfrm>
          <a:prstGeom prst="roundRect">
            <a:avLst>
              <a:gd name="adj" fmla="val 8000"/>
            </a:avLst>
          </a:prstGeom>
          <a:solidFill>
            <a:srgbClr val="F4F7FC"/>
          </a:solidFill>
          <a:ln/>
        </p:spPr>
      </p:sp>
      <p:sp>
        <p:nvSpPr>
          <p:cNvPr id="12" name="Text 10"/>
          <p:cNvSpPr/>
          <p:nvPr/>
        </p:nvSpPr>
        <p:spPr>
          <a:xfrm>
            <a:off x="615391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Source IP</a:t>
            </a:r>
            <a:endParaRPr lang="en-US" sz="1050" dirty="0"/>
          </a:p>
        </p:txBody>
      </p:sp>
      <p:sp>
        <p:nvSpPr>
          <p:cNvPr id="13" name="Shape 11"/>
          <p:cNvSpPr/>
          <p:nvPr/>
        </p:nvSpPr>
        <p:spPr>
          <a:xfrm>
            <a:off x="7955280" y="2057400"/>
            <a:ext cx="1783080" cy="685800"/>
          </a:xfrm>
          <a:prstGeom prst="roundRect">
            <a:avLst>
              <a:gd name="adj" fmla="val 8000"/>
            </a:avLst>
          </a:prstGeom>
          <a:solidFill>
            <a:srgbClr val="F4F7FC"/>
          </a:solidFill>
          <a:ln/>
        </p:spPr>
      </p:sp>
      <p:sp>
        <p:nvSpPr>
          <p:cNvPr id="14" name="Text 12"/>
          <p:cNvSpPr/>
          <p:nvPr/>
        </p:nvSpPr>
        <p:spPr>
          <a:xfrm>
            <a:off x="802843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Target IP</a:t>
            </a:r>
            <a:endParaRPr lang="en-US" sz="1050" dirty="0"/>
          </a:p>
        </p:txBody>
      </p:sp>
      <p:sp>
        <p:nvSpPr>
          <p:cNvPr id="15" name="Shape 13"/>
          <p:cNvSpPr/>
          <p:nvPr/>
        </p:nvSpPr>
        <p:spPr>
          <a:xfrm>
            <a:off x="9829800" y="2057400"/>
            <a:ext cx="1783080" cy="685800"/>
          </a:xfrm>
          <a:prstGeom prst="roundRect">
            <a:avLst>
              <a:gd name="adj" fmla="val 8000"/>
            </a:avLst>
          </a:prstGeom>
          <a:solidFill>
            <a:srgbClr val="F4F7FC"/>
          </a:solidFill>
          <a:ln/>
        </p:spPr>
      </p:sp>
      <p:sp>
        <p:nvSpPr>
          <p:cNvPr id="16" name="Text 14"/>
          <p:cNvSpPr/>
          <p:nvPr/>
        </p:nvSpPr>
        <p:spPr>
          <a:xfrm>
            <a:off x="9902952" y="2057400"/>
            <a:ext cx="1636776" cy="685800"/>
          </a:xfrm>
          <a:prstGeom prst="rect">
            <a:avLst/>
          </a:prstGeom>
          <a:noFill/>
          <a:ln/>
        </p:spPr>
        <p:txBody>
          <a:bodyPr wrap="square" lIns="0" tIns="0" rIns="0" bIns="0" rtlCol="0" anchor="ctr"/>
          <a:lstStyle/>
          <a:p>
            <a:pPr algn="ctr" indent="0" marL="0">
              <a:lnSpc>
                <a:spcPct val="105000"/>
              </a:lnSpc>
              <a:buNone/>
            </a:pPr>
            <a:r>
              <a:rPr lang="en-US" sz="1050" b="1" dirty="0">
                <a:solidFill>
                  <a:srgbClr val="13294B"/>
                </a:solidFill>
                <a:latin typeface="Calibri" pitchFamily="34" charset="0"/>
                <a:ea typeface="Calibri" pitchFamily="34" charset="-122"/>
                <a:cs typeface="Calibri" pitchFamily="34" charset="-120"/>
              </a:rPr>
              <a:t>TTL / Protocol</a:t>
            </a:r>
            <a:endParaRPr lang="en-US" sz="1050" dirty="0"/>
          </a:p>
        </p:txBody>
      </p:sp>
      <p:sp>
        <p:nvSpPr>
          <p:cNvPr id="17" name="Text 15"/>
          <p:cNvSpPr/>
          <p:nvPr/>
        </p:nvSpPr>
        <p:spPr>
          <a:xfrm>
            <a:off x="457200" y="3017520"/>
            <a:ext cx="6400800" cy="32004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Sample Packet Decoded by the Script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6400800" cy="2651760"/>
        </p:xfrm>
        <a:graphic>
          <a:graphicData uri="http://schemas.openxmlformats.org/drawingml/2006/table">
            <a:tbl>
              <a:tblPr/>
              <a:tblGrid>
                <a:gridCol w="3200400"/>
                <a:gridCol w="32004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solidFill>
                      <a:srgbClr val="1F3D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Extracted Value</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solidFill>
                      <a:srgbClr val="1F3D6B"/>
                    </a:solidFill>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Source MAC</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66:77:88:99:AA:BB</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Destination MAC</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00:11:22:33:44:55</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EtherType</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8 (IPv4)</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Source IP</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192.168.1.10</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Target IP</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192.168.1.1</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r h="365760">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Protocol ID</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c>
                  <a:txBody>
                    <a:bodyPr/>
                    <a:lstStyle/>
                    <a:p>
                      <a:pPr indent="0" marL="0">
                        <a:buNone/>
                      </a:pPr>
                      <a:r>
                        <a:rPr lang="en-US" sz="1100" dirty="0">
                          <a:solidFill>
                            <a:srgbClr val="13294B"/>
                          </a:solidFill>
                          <a:latin typeface="Calibri" pitchFamily="34" charset="0"/>
                          <a:ea typeface="Calibri" pitchFamily="34" charset="-122"/>
                          <a:cs typeface="Calibri" pitchFamily="34" charset="-120"/>
                        </a:rPr>
                        <a:t>6 (TCP)</a:t>
                      </a:r>
                      <a:endParaRPr lang="en-US" sz="1100" dirty="0">
                        <a:latin typeface="Calibri" charset="0"/>
                        <a:ea typeface="Calibri" charset="0"/>
                        <a:cs typeface="Calibri" charset="0"/>
                      </a:endParaRPr>
                    </a:p>
                  </a:txBody>
                  <a:tcPr marL="91440" marR="91440" marT="45720" marB="45720" anchor="ctr">
                    <a:lnL w="9525" cap="flat" cmpd="sng" algn="ctr">
                      <a:solidFill>
                        <a:srgbClr val="B9C6DA"/>
                      </a:solidFill>
                      <a:prstDash val="solid"/>
                      <a:round/>
                      <a:headEnd type="none" w="med" len="med"/>
                      <a:tailEnd type="none" w="med" len="med"/>
                    </a:lnL>
                    <a:lnR w="9525" cap="flat" cmpd="sng" algn="ctr">
                      <a:solidFill>
                        <a:srgbClr val="B9C6DA"/>
                      </a:solidFill>
                      <a:prstDash val="solid"/>
                      <a:round/>
                      <a:headEnd type="none" w="med" len="med"/>
                      <a:tailEnd type="none" w="med" len="med"/>
                    </a:lnR>
                    <a:lnT w="9525" cap="flat" cmpd="sng" algn="ctr">
                      <a:solidFill>
                        <a:srgbClr val="B9C6DA"/>
                      </a:solidFill>
                      <a:prstDash val="solid"/>
                      <a:round/>
                      <a:headEnd type="none" w="med" len="med"/>
                      <a:tailEnd type="none" w="med" len="med"/>
                    </a:lnT>
                    <a:lnB w="9525" cap="flat" cmpd="sng" algn="ctr">
                      <a:solidFill>
                        <a:srgbClr val="B9C6DA"/>
                      </a:solidFill>
                      <a:prstDash val="solid"/>
                      <a:round/>
                      <a:headEnd type="none" w="med" len="med"/>
                      <a:tailEnd type="none" w="med" len="med"/>
                    </a:lnB>
                  </a:tcPr>
                </a:tc>
              </a:tr>
            </a:tbl>
          </a:graphicData>
        </a:graphic>
      </p:graphicFrame>
      <p:sp>
        <p:nvSpPr>
          <p:cNvPr id="19" name="Shape 16"/>
          <p:cNvSpPr/>
          <p:nvPr/>
        </p:nvSpPr>
        <p:spPr>
          <a:xfrm>
            <a:off x="7178040" y="3017520"/>
            <a:ext cx="4434840" cy="3017520"/>
          </a:xfrm>
          <a:prstGeom prst="roundRect">
            <a:avLst>
              <a:gd name="adj" fmla="val 2424"/>
            </a:avLst>
          </a:prstGeom>
          <a:solidFill>
            <a:srgbClr val="FBEBDD"/>
          </a:solidFill>
          <a:ln/>
        </p:spPr>
      </p:sp>
      <p:sp>
        <p:nvSpPr>
          <p:cNvPr id="20" name="Text 17"/>
          <p:cNvSpPr/>
          <p:nvPr/>
        </p:nvSpPr>
        <p:spPr>
          <a:xfrm>
            <a:off x="7406640" y="3200400"/>
            <a:ext cx="4023360" cy="274320"/>
          </a:xfrm>
          <a:prstGeom prst="rect">
            <a:avLst/>
          </a:prstGeom>
          <a:noFill/>
          <a:ln/>
        </p:spPr>
        <p:txBody>
          <a:bodyPr wrap="square" lIns="0" tIns="0" rIns="0" bIns="0" rtlCol="0" anchor="ctr"/>
          <a:lstStyle/>
          <a:p>
            <a:pPr indent="0" marL="0">
              <a:buNone/>
            </a:pPr>
            <a:r>
              <a:rPr lang="en-US" sz="1000" b="1" spc="100" kern="0" dirty="0">
                <a:solidFill>
                  <a:srgbClr val="C97F3F"/>
                </a:solidFill>
                <a:latin typeface="Calibri" pitchFamily="34" charset="0"/>
                <a:ea typeface="Calibri" pitchFamily="34" charset="-122"/>
                <a:cs typeface="Calibri" pitchFamily="34" charset="-120"/>
              </a:rPr>
              <a:t>WHY THIS MATTERS</a:t>
            </a:r>
            <a:endParaRPr lang="en-US" sz="1000" dirty="0"/>
          </a:p>
        </p:txBody>
      </p:sp>
      <p:sp>
        <p:nvSpPr>
          <p:cNvPr id="21" name="Text 18"/>
          <p:cNvSpPr/>
          <p:nvPr/>
        </p:nvSpPr>
        <p:spPr>
          <a:xfrm>
            <a:off x="7406640" y="3566160"/>
            <a:ext cx="4023360" cy="237744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100" dirty="0">
                <a:solidFill>
                  <a:srgbClr val="13294B"/>
                </a:solidFill>
                <a:latin typeface="Calibri" pitchFamily="34" charset="0"/>
                <a:ea typeface="Calibri" pitchFamily="34" charset="-122"/>
                <a:cs typeface="Calibri" pitchFamily="34" charset="-120"/>
              </a:rPr>
              <a:t>MAC addresses identify devices at the link layer, before any IP routing occurs.</a:t>
            </a:r>
            <a:endParaRPr lang="en-US" sz="1100" dirty="0"/>
          </a:p>
          <a:p>
            <a:pPr marL="342900" indent="-342900">
              <a:lnSpc>
                <a:spcPct val="115000"/>
              </a:lnSpc>
              <a:spcAft>
                <a:spcPts val="1000"/>
              </a:spcAft>
              <a:buSzPct val="100000"/>
              <a:buChar char="•"/>
            </a:pPr>
            <a:r>
              <a:rPr lang="en-US" sz="1100" dirty="0">
                <a:solidFill>
                  <a:srgbClr val="13294B"/>
                </a:solidFill>
                <a:latin typeface="Calibri" pitchFamily="34" charset="0"/>
                <a:ea typeface="Calibri" pitchFamily="34" charset="-122"/>
                <a:cs typeface="Calibri" pitchFamily="34" charset="-120"/>
              </a:rPr>
              <a:t>The IPv4 header reveals TTL and protocol, useful for spotting anomalies.</a:t>
            </a:r>
            <a:endParaRPr lang="en-US" sz="1100" dirty="0"/>
          </a:p>
          <a:p>
            <a:pPr marL="342900" indent="-342900">
              <a:lnSpc>
                <a:spcPct val="115000"/>
              </a:lnSpc>
              <a:spcAft>
                <a:spcPts val="1000"/>
              </a:spcAft>
              <a:buSzPct val="100000"/>
              <a:buChar char="•"/>
            </a:pPr>
            <a:r>
              <a:rPr lang="en-US" sz="1100" dirty="0">
                <a:solidFill>
                  <a:srgbClr val="13294B"/>
                </a:solidFill>
                <a:latin typeface="Calibri" pitchFamily="34" charset="0"/>
                <a:ea typeface="Calibri" pitchFamily="34" charset="-122"/>
                <a:cs typeface="Calibri" pitchFamily="34" charset="-120"/>
              </a:rPr>
              <a:t>Correctly unpacking fixed-width binary headers is foundational to any packet-inspection tool.</a:t>
            </a:r>
            <a:endParaRPr lang="en-US" sz="1100" dirty="0"/>
          </a:p>
        </p:txBody>
      </p:sp>
      <p:sp>
        <p:nvSpPr>
          <p:cNvPr id="22" name="Text 19"/>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23" name="Text 20"/>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TASK 1 — ANALYSIS &amp; FINDINGS</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Detecting Unencrypted Traffic in the Wild</a:t>
            </a:r>
            <a:endParaRPr lang="en-US" sz="2800" dirty="0"/>
          </a:p>
        </p:txBody>
      </p:sp>
      <p:sp>
        <p:nvSpPr>
          <p:cNvPr id="4" name="Text 2"/>
          <p:cNvSpPr/>
          <p:nvPr/>
        </p:nvSpPr>
        <p:spPr>
          <a:xfrm>
            <a:off x="457200" y="1371600"/>
            <a:ext cx="11155680" cy="502920"/>
          </a:xfrm>
          <a:prstGeom prst="rect">
            <a:avLst/>
          </a:prstGeom>
          <a:noFill/>
          <a:ln/>
        </p:spPr>
        <p:txBody>
          <a:bodyPr wrap="square" lIns="0" tIns="0" rIns="0" bIns="0" rtlCol="0" anchor="ctr"/>
          <a:lstStyle/>
          <a:p>
            <a:pPr indent="0" marL="0">
              <a:lnSpc>
                <a:spcPct val="115000"/>
              </a:lnSpc>
              <a:buNone/>
            </a:pPr>
            <a:r>
              <a:rPr lang="en-US" sz="1250" dirty="0">
                <a:solidFill>
                  <a:srgbClr val="6E84A6"/>
                </a:solidFill>
                <a:latin typeface="Calibri" pitchFamily="34" charset="0"/>
                <a:ea typeface="Calibri" pitchFamily="34" charset="-122"/>
                <a:cs typeface="Calibri" pitchFamily="34" charset="-120"/>
              </a:rPr>
              <a:t>After header parsing, the payload is decoded and scanned for plaintext markers such as HTTP, GET, or POST — a simple but effective heuristic for spotting unprotected data in transit.</a:t>
            </a:r>
            <a:endParaRPr lang="en-US" sz="1250" dirty="0"/>
          </a:p>
        </p:txBody>
      </p:sp>
      <p:sp>
        <p:nvSpPr>
          <p:cNvPr id="5" name="Shape 3"/>
          <p:cNvSpPr/>
          <p:nvPr/>
        </p:nvSpPr>
        <p:spPr>
          <a:xfrm>
            <a:off x="457200" y="2057400"/>
            <a:ext cx="6035040" cy="3977640"/>
          </a:xfrm>
          <a:prstGeom prst="roundRect">
            <a:avLst>
              <a:gd name="adj" fmla="val 1839"/>
            </a:avLst>
          </a:prstGeom>
          <a:solidFill>
            <a:srgbClr val="13294B"/>
          </a:solidFill>
          <a:ln/>
        </p:spPr>
      </p:sp>
      <p:sp>
        <p:nvSpPr>
          <p:cNvPr id="6" name="Text 4"/>
          <p:cNvSpPr/>
          <p:nvPr/>
        </p:nvSpPr>
        <p:spPr>
          <a:xfrm>
            <a:off x="731520" y="2240280"/>
            <a:ext cx="4572000" cy="274320"/>
          </a:xfrm>
          <a:prstGeom prst="rect">
            <a:avLst/>
          </a:prstGeom>
          <a:noFill/>
          <a:ln/>
        </p:spPr>
        <p:txBody>
          <a:bodyPr wrap="square" lIns="0" tIns="0" rIns="0" bIns="0" rtlCol="0" anchor="ctr"/>
          <a:lstStyle/>
          <a:p>
            <a:pPr indent="0" marL="0">
              <a:buNone/>
            </a:pPr>
            <a:r>
              <a:rPr lang="en-US" sz="950" b="1" spc="100" kern="0" dirty="0">
                <a:solidFill>
                  <a:srgbClr val="C97F3F"/>
                </a:solidFill>
                <a:latin typeface="Calibri" pitchFamily="34" charset="0"/>
                <a:ea typeface="Calibri" pitchFamily="34" charset="-122"/>
                <a:cs typeface="Calibri" pitchFamily="34" charset="-120"/>
              </a:rPr>
              <a:t>SAMPLE ANALYSIS OUTPUT</a:t>
            </a:r>
            <a:endParaRPr lang="en-US" sz="950" dirty="0"/>
          </a:p>
        </p:txBody>
      </p:sp>
      <p:sp>
        <p:nvSpPr>
          <p:cNvPr id="7" name="Text 5"/>
          <p:cNvSpPr/>
          <p:nvPr/>
        </p:nvSpPr>
        <p:spPr>
          <a:xfrm>
            <a:off x="731520" y="2606040"/>
            <a:ext cx="5486400" cy="3291840"/>
          </a:xfrm>
          <a:prstGeom prst="rect">
            <a:avLst/>
          </a:prstGeom>
          <a:noFill/>
          <a:ln/>
        </p:spPr>
        <p:txBody>
          <a:bodyPr wrap="square" lIns="0" tIns="0" rIns="0" bIns="0" rtlCol="0" anchor="ctr"/>
          <a:lstStyle/>
          <a:p>
            <a:pPr indent="0" marL="0">
              <a:lnSpc>
                <a:spcPct val="125000"/>
              </a:lnSpc>
              <a:buNone/>
            </a:pPr>
            <a:r>
              <a:rPr lang="en-US" sz="1200" b="1" dirty="0">
                <a:solidFill>
                  <a:srgbClr val="CADCFC"/>
                </a:solidFill>
                <a:latin typeface="Courier New" pitchFamily="34" charset="0"/>
                <a:ea typeface="Courier New" pitchFamily="34" charset="-122"/>
                <a:cs typeface="Courier New" pitchFamily="34" charset="-120"/>
              </a:rPr>
              <a:t>[+] Ethernet Frame:
</a:t>
            </a:r>
            <a:pPr indent="0" marL="0">
              <a:lnSpc>
                <a:spcPct val="125000"/>
              </a:lnSpc>
              <a:buNone/>
            </a:pPr>
            <a:r>
              <a:rPr lang="en-US" sz="1200" dirty="0">
                <a:solidFill>
                  <a:srgbClr val="FFFFFF"/>
                </a:solidFill>
                <a:latin typeface="Courier New" pitchFamily="34" charset="0"/>
                <a:ea typeface="Courier New" pitchFamily="34" charset="-122"/>
                <a:cs typeface="Courier New" pitchFamily="34" charset="-120"/>
              </a:rPr>
              <a:t>    Source MAC      : 66:77:88:99:AA:BB
    Destination MAC : 00:11:22:33:44:55
</a:t>
            </a:r>
            <a:pPr indent="0" marL="0">
              <a:lnSpc>
                <a:spcPct val="125000"/>
              </a:lnSpc>
              <a:buNone/>
            </a:pPr>
            <a:r>
              <a:rPr lang="en-US" sz="1200" b="1" dirty="0">
                <a:solidFill>
                  <a:srgbClr val="CADCFC"/>
                </a:solidFill>
                <a:latin typeface="Courier New" pitchFamily="34" charset="0"/>
                <a:ea typeface="Courier New" pitchFamily="34" charset="-122"/>
                <a:cs typeface="Courier New" pitchFamily="34" charset="-120"/>
              </a:rPr>
              <a:t>[+] IPv4 Packet:
</a:t>
            </a:r>
            <a:pPr indent="0" marL="0">
              <a:lnSpc>
                <a:spcPct val="125000"/>
              </a:lnSpc>
              <a:buNone/>
            </a:pPr>
            <a:r>
              <a:rPr lang="en-US" sz="1200" dirty="0">
                <a:solidFill>
                  <a:srgbClr val="FFFFFF"/>
                </a:solidFill>
                <a:latin typeface="Courier New" pitchFamily="34" charset="0"/>
                <a:ea typeface="Courier New" pitchFamily="34" charset="-122"/>
                <a:cs typeface="Courier New" pitchFamily="34" charset="-120"/>
              </a:rPr>
              <a:t>    Source IP  : 192.168.1.10
    Target IP  : 192.168.1.1
    Protocol   : 6 (TCP)
</a:t>
            </a:r>
            <a:pPr indent="0" marL="0">
              <a:lnSpc>
                <a:spcPct val="125000"/>
              </a:lnSpc>
              <a:buNone/>
            </a:pPr>
            <a:r>
              <a:rPr lang="en-US" sz="1200" b="1" dirty="0">
                <a:solidFill>
                  <a:srgbClr val="CADCFC"/>
                </a:solidFill>
                <a:latin typeface="Courier New" pitchFamily="34" charset="0"/>
                <a:ea typeface="Courier New" pitchFamily="34" charset="-122"/>
                <a:cs typeface="Courier New" pitchFamily="34" charset="-120"/>
              </a:rPr>
              <a:t>[+] Security Analysis:
</a:t>
            </a:r>
            <a:pPr indent="0" marL="0">
              <a:lnSpc>
                <a:spcPct val="125000"/>
              </a:lnSpc>
              <a:buNone/>
            </a:pPr>
            <a:r>
              <a:rPr lang="en-US" sz="1200" b="1" dirty="0">
                <a:solidFill>
                  <a:srgbClr val="C97F3F"/>
                </a:solidFill>
                <a:latin typeface="Courier New" pitchFamily="34" charset="0"/>
                <a:ea typeface="Courier New" pitchFamily="34" charset="-122"/>
                <a:cs typeface="Courier New" pitchFamily="34" charset="-120"/>
              </a:rPr>
              <a:t>    Status: WARNING — Unencrypted</a:t>
            </a:r>
            <a:endParaRPr lang="en-US" sz="1200" dirty="0"/>
          </a:p>
          <a:p>
            <a:pPr indent="0" marL="0">
              <a:lnSpc>
                <a:spcPct val="125000"/>
              </a:lnSpc>
              <a:buNone/>
            </a:pPr>
            <a:r>
              <a:rPr lang="en-US" sz="1200" b="1" dirty="0">
                <a:solidFill>
                  <a:srgbClr val="C97F3F"/>
                </a:solidFill>
                <a:latin typeface="Courier New" pitchFamily="34" charset="0"/>
                <a:ea typeface="Courier New" pitchFamily="34" charset="-122"/>
                <a:cs typeface="Courier New" pitchFamily="34" charset="-120"/>
              </a:rPr>
              <a:t>    HTTP traffic detected!</a:t>
            </a:r>
            <a:endParaRPr lang="en-US" sz="1200" dirty="0"/>
          </a:p>
        </p:txBody>
      </p:sp>
      <p:sp>
        <p:nvSpPr>
          <p:cNvPr id="8" name="Text 6"/>
          <p:cNvSpPr/>
          <p:nvPr/>
        </p:nvSpPr>
        <p:spPr>
          <a:xfrm>
            <a:off x="6766560" y="2057400"/>
            <a:ext cx="4846320" cy="320040"/>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Key Findings</a:t>
            </a:r>
            <a:endParaRPr lang="en-US" sz="1300" dirty="0"/>
          </a:p>
        </p:txBody>
      </p:sp>
      <p:sp>
        <p:nvSpPr>
          <p:cNvPr id="9" name="Shape 7"/>
          <p:cNvSpPr/>
          <p:nvPr/>
        </p:nvSpPr>
        <p:spPr>
          <a:xfrm>
            <a:off x="6766560" y="2423160"/>
            <a:ext cx="4846320" cy="1051560"/>
          </a:xfrm>
          <a:prstGeom prst="roundRect">
            <a:avLst>
              <a:gd name="adj" fmla="val 5217"/>
            </a:avLst>
          </a:prstGeom>
          <a:solidFill>
            <a:srgbClr val="F4F7FC"/>
          </a:solidFill>
          <a:ln/>
        </p:spPr>
      </p:sp>
      <p:sp>
        <p:nvSpPr>
          <p:cNvPr id="10" name="Text 8"/>
          <p:cNvSpPr/>
          <p:nvPr/>
        </p:nvSpPr>
        <p:spPr>
          <a:xfrm>
            <a:off x="6949440" y="2514600"/>
            <a:ext cx="4480560" cy="32004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Header Decoding Works Correctly</a:t>
            </a:r>
            <a:endParaRPr lang="en-US" sz="1150" dirty="0"/>
          </a:p>
        </p:txBody>
      </p:sp>
      <p:sp>
        <p:nvSpPr>
          <p:cNvPr id="11" name="Text 9"/>
          <p:cNvSpPr/>
          <p:nvPr/>
        </p:nvSpPr>
        <p:spPr>
          <a:xfrm>
            <a:off x="6949440" y="2834640"/>
            <a:ext cx="4480560" cy="59436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MAC addresses and IPv4 fields matched expected values across test packets.</a:t>
            </a:r>
            <a:endParaRPr lang="en-US" sz="1000" dirty="0"/>
          </a:p>
        </p:txBody>
      </p:sp>
      <p:sp>
        <p:nvSpPr>
          <p:cNvPr id="12" name="Shape 10"/>
          <p:cNvSpPr/>
          <p:nvPr/>
        </p:nvSpPr>
        <p:spPr>
          <a:xfrm>
            <a:off x="6766560" y="3611880"/>
            <a:ext cx="4846320" cy="1051560"/>
          </a:xfrm>
          <a:prstGeom prst="roundRect">
            <a:avLst>
              <a:gd name="adj" fmla="val 5217"/>
            </a:avLst>
          </a:prstGeom>
          <a:solidFill>
            <a:srgbClr val="F4F7FC"/>
          </a:solidFill>
          <a:ln/>
        </p:spPr>
      </p:sp>
      <p:sp>
        <p:nvSpPr>
          <p:cNvPr id="13" name="Text 11"/>
          <p:cNvSpPr/>
          <p:nvPr/>
        </p:nvSpPr>
        <p:spPr>
          <a:xfrm>
            <a:off x="6949440" y="3703320"/>
            <a:ext cx="4480560" cy="32004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Plaintext Login Request Detected</a:t>
            </a:r>
            <a:endParaRPr lang="en-US" sz="1150" dirty="0"/>
          </a:p>
        </p:txBody>
      </p:sp>
      <p:sp>
        <p:nvSpPr>
          <p:cNvPr id="14" name="Text 12"/>
          <p:cNvSpPr/>
          <p:nvPr/>
        </p:nvSpPr>
        <p:spPr>
          <a:xfrm>
            <a:off x="6949440" y="4023360"/>
            <a:ext cx="4480560" cy="59436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The sample packet carried a GET /login.php request in cleartext — a real-world credential exposure risk.</a:t>
            </a:r>
            <a:endParaRPr lang="en-US" sz="1000" dirty="0"/>
          </a:p>
        </p:txBody>
      </p:sp>
      <p:sp>
        <p:nvSpPr>
          <p:cNvPr id="15" name="Shape 13"/>
          <p:cNvSpPr/>
          <p:nvPr/>
        </p:nvSpPr>
        <p:spPr>
          <a:xfrm>
            <a:off x="6766560" y="4800600"/>
            <a:ext cx="4846320" cy="1051560"/>
          </a:xfrm>
          <a:prstGeom prst="roundRect">
            <a:avLst>
              <a:gd name="adj" fmla="val 5217"/>
            </a:avLst>
          </a:prstGeom>
          <a:solidFill>
            <a:srgbClr val="F4F7FC"/>
          </a:solidFill>
          <a:ln/>
        </p:spPr>
      </p:sp>
      <p:sp>
        <p:nvSpPr>
          <p:cNvPr id="16" name="Text 14"/>
          <p:cNvSpPr/>
          <p:nvPr/>
        </p:nvSpPr>
        <p:spPr>
          <a:xfrm>
            <a:off x="6949440" y="4892040"/>
            <a:ext cx="4480560" cy="32004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Heuristic Is Fast, Not Foolproof</a:t>
            </a:r>
            <a:endParaRPr lang="en-US" sz="1150" dirty="0"/>
          </a:p>
        </p:txBody>
      </p:sp>
      <p:sp>
        <p:nvSpPr>
          <p:cNvPr id="17" name="Text 15"/>
          <p:cNvSpPr/>
          <p:nvPr/>
        </p:nvSpPr>
        <p:spPr>
          <a:xfrm>
            <a:off x="6949440" y="5212080"/>
            <a:ext cx="4480560" cy="594360"/>
          </a:xfrm>
          <a:prstGeom prst="rect">
            <a:avLst/>
          </a:prstGeom>
          <a:noFill/>
          <a:ln/>
        </p:spPr>
        <p:txBody>
          <a:bodyPr wrap="square" lIns="0" tIns="0" rIns="0" bIns="0" rtlCol="0" anchor="ctr"/>
          <a:lstStyle/>
          <a:p>
            <a:pPr indent="0" marL="0">
              <a:lnSpc>
                <a:spcPct val="115000"/>
              </a:lnSpc>
              <a:buNone/>
            </a:pPr>
            <a:r>
              <a:rPr lang="en-US" sz="1000" dirty="0">
                <a:solidFill>
                  <a:srgbClr val="6E84A6"/>
                </a:solidFill>
                <a:latin typeface="Calibri" pitchFamily="34" charset="0"/>
                <a:ea typeface="Calibri" pitchFamily="34" charset="-122"/>
                <a:cs typeface="Calibri" pitchFamily="34" charset="-120"/>
              </a:rPr>
              <a:t>Keyword matching flags obvious HTTP traffic but won't catch encrypted (HTTPS/TLS) leaks or obfuscated payloads.</a:t>
            </a:r>
            <a:endParaRPr lang="en-US" sz="1000" dirty="0"/>
          </a:p>
        </p:txBody>
      </p:sp>
      <p:sp>
        <p:nvSpPr>
          <p:cNvPr id="18" name="Text 1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19" name="Text 17"/>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TASK 2 — CRYPTOGRAPHY ENGINE</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Hashing, Symmetric &amp; Asymmetric Encryption</a:t>
            </a:r>
            <a:endParaRPr lang="en-US" sz="2800" dirty="0"/>
          </a:p>
        </p:txBody>
      </p:sp>
      <p:sp>
        <p:nvSpPr>
          <p:cNvPr id="4" name="Text 2"/>
          <p:cNvSpPr/>
          <p:nvPr/>
        </p:nvSpPr>
        <p:spPr>
          <a:xfrm>
            <a:off x="457200" y="1371600"/>
            <a:ext cx="11155680" cy="502920"/>
          </a:xfrm>
          <a:prstGeom prst="rect">
            <a:avLst/>
          </a:prstGeom>
          <a:noFill/>
          <a:ln/>
        </p:spPr>
        <p:txBody>
          <a:bodyPr wrap="square" lIns="0" tIns="0" rIns="0" bIns="0" rtlCol="0" anchor="ctr"/>
          <a:lstStyle/>
          <a:p>
            <a:pPr indent="0" marL="0">
              <a:lnSpc>
                <a:spcPct val="115000"/>
              </a:lnSpc>
              <a:buNone/>
            </a:pPr>
            <a:r>
              <a:rPr lang="en-US" sz="1250" dirty="0">
                <a:solidFill>
                  <a:srgbClr val="6E84A6"/>
                </a:solidFill>
                <a:latin typeface="Calibri" pitchFamily="34" charset="0"/>
                <a:ea typeface="Calibri" pitchFamily="34" charset="-122"/>
                <a:cs typeface="Calibri" pitchFamily="34" charset="-120"/>
              </a:rPr>
              <a:t>A single CryptographyEngine class demonstrates three core primitives used across security systems: integrity hashing, symmetric encryption, and asymmetric key simulation.</a:t>
            </a:r>
            <a:endParaRPr lang="en-US" sz="1250" dirty="0"/>
          </a:p>
        </p:txBody>
      </p:sp>
      <p:sp>
        <p:nvSpPr>
          <p:cNvPr id="5" name="Shape 3"/>
          <p:cNvSpPr/>
          <p:nvPr/>
        </p:nvSpPr>
        <p:spPr>
          <a:xfrm>
            <a:off x="457200" y="2011680"/>
            <a:ext cx="3611880" cy="1691640"/>
          </a:xfrm>
          <a:prstGeom prst="roundRect">
            <a:avLst>
              <a:gd name="adj" fmla="val 4324"/>
            </a:avLst>
          </a:prstGeom>
          <a:solidFill>
            <a:srgbClr val="F4F7FC"/>
          </a:solidFill>
          <a:ln/>
        </p:spPr>
      </p:sp>
      <p:sp>
        <p:nvSpPr>
          <p:cNvPr id="6" name="Shape 4"/>
          <p:cNvSpPr/>
          <p:nvPr/>
        </p:nvSpPr>
        <p:spPr>
          <a:xfrm>
            <a:off x="658368" y="2194560"/>
            <a:ext cx="384048" cy="384048"/>
          </a:xfrm>
          <a:prstGeom prst="ellipse">
            <a:avLst/>
          </a:prstGeom>
          <a:solidFill>
            <a:srgbClr val="C97F3F"/>
          </a:solidFill>
          <a:ln/>
        </p:spPr>
      </p:sp>
      <p:sp>
        <p:nvSpPr>
          <p:cNvPr id="7" name="Text 5"/>
          <p:cNvSpPr/>
          <p:nvPr/>
        </p:nvSpPr>
        <p:spPr>
          <a:xfrm>
            <a:off x="658368"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658368" y="263347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SHA-256 Hashing</a:t>
            </a:r>
            <a:endParaRPr lang="en-US" sz="1250" dirty="0"/>
          </a:p>
        </p:txBody>
      </p:sp>
      <p:sp>
        <p:nvSpPr>
          <p:cNvPr id="9" name="Text 7"/>
          <p:cNvSpPr/>
          <p:nvPr/>
        </p:nvSpPr>
        <p:spPr>
          <a:xfrm>
            <a:off x="658368" y="297180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Generates a fixed-length digest of the input string to verify data integrity — any change to the message produces a completely different hash.</a:t>
            </a:r>
            <a:endParaRPr lang="en-US" sz="950" dirty="0"/>
          </a:p>
        </p:txBody>
      </p:sp>
      <p:sp>
        <p:nvSpPr>
          <p:cNvPr id="10" name="Shape 8"/>
          <p:cNvSpPr/>
          <p:nvPr/>
        </p:nvSpPr>
        <p:spPr>
          <a:xfrm>
            <a:off x="4251960" y="2011680"/>
            <a:ext cx="3611880" cy="1691640"/>
          </a:xfrm>
          <a:prstGeom prst="roundRect">
            <a:avLst>
              <a:gd name="adj" fmla="val 4324"/>
            </a:avLst>
          </a:prstGeom>
          <a:solidFill>
            <a:srgbClr val="F4F7FC"/>
          </a:solidFill>
          <a:ln/>
        </p:spPr>
      </p:sp>
      <p:sp>
        <p:nvSpPr>
          <p:cNvPr id="11" name="Shape 9"/>
          <p:cNvSpPr/>
          <p:nvPr/>
        </p:nvSpPr>
        <p:spPr>
          <a:xfrm>
            <a:off x="4453128" y="2194560"/>
            <a:ext cx="384048" cy="384048"/>
          </a:xfrm>
          <a:prstGeom prst="ellipse">
            <a:avLst/>
          </a:prstGeom>
          <a:solidFill>
            <a:srgbClr val="C97F3F"/>
          </a:solidFill>
          <a:ln/>
        </p:spPr>
      </p:sp>
      <p:sp>
        <p:nvSpPr>
          <p:cNvPr id="12" name="Text 10"/>
          <p:cNvSpPr/>
          <p:nvPr/>
        </p:nvSpPr>
        <p:spPr>
          <a:xfrm>
            <a:off x="4453128"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453128" y="263347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Interactive Cipher</a:t>
            </a:r>
            <a:endParaRPr lang="en-US" sz="1250" dirty="0"/>
          </a:p>
        </p:txBody>
      </p:sp>
      <p:sp>
        <p:nvSpPr>
          <p:cNvPr id="14" name="Text 12"/>
          <p:cNvSpPr/>
          <p:nvPr/>
        </p:nvSpPr>
        <p:spPr>
          <a:xfrm>
            <a:off x="4453128" y="297180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A symmetric XOR cipher encrypts text into hex using a repeating key, and reliably decrypts it back to the original message.</a:t>
            </a:r>
            <a:endParaRPr lang="en-US" sz="950" dirty="0"/>
          </a:p>
        </p:txBody>
      </p:sp>
      <p:sp>
        <p:nvSpPr>
          <p:cNvPr id="15" name="Shape 13"/>
          <p:cNvSpPr/>
          <p:nvPr/>
        </p:nvSpPr>
        <p:spPr>
          <a:xfrm>
            <a:off x="8046720" y="2011680"/>
            <a:ext cx="3611880" cy="1691640"/>
          </a:xfrm>
          <a:prstGeom prst="roundRect">
            <a:avLst>
              <a:gd name="adj" fmla="val 4324"/>
            </a:avLst>
          </a:prstGeom>
          <a:solidFill>
            <a:srgbClr val="F4F7FC"/>
          </a:solidFill>
          <a:ln/>
        </p:spPr>
      </p:sp>
      <p:sp>
        <p:nvSpPr>
          <p:cNvPr id="16" name="Shape 14"/>
          <p:cNvSpPr/>
          <p:nvPr/>
        </p:nvSpPr>
        <p:spPr>
          <a:xfrm>
            <a:off x="8247888" y="2194560"/>
            <a:ext cx="384048" cy="384048"/>
          </a:xfrm>
          <a:prstGeom prst="ellipse">
            <a:avLst/>
          </a:prstGeom>
          <a:solidFill>
            <a:srgbClr val="C97F3F"/>
          </a:solidFill>
          <a:ln/>
        </p:spPr>
      </p:sp>
      <p:sp>
        <p:nvSpPr>
          <p:cNvPr id="17" name="Text 15"/>
          <p:cNvSpPr/>
          <p:nvPr/>
        </p:nvSpPr>
        <p:spPr>
          <a:xfrm>
            <a:off x="8247888"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47888" y="263347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3 Crypto Primitives</a:t>
            </a:r>
            <a:endParaRPr lang="en-US" sz="1250" dirty="0"/>
          </a:p>
        </p:txBody>
      </p:sp>
      <p:sp>
        <p:nvSpPr>
          <p:cNvPr id="19" name="Text 17"/>
          <p:cNvSpPr/>
          <p:nvPr/>
        </p:nvSpPr>
        <p:spPr>
          <a:xfrm>
            <a:off x="8247888" y="297180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Hashing, symmetric encryption, and asymmetric key simulation are all demonstrated in one console-run script.</a:t>
            </a:r>
            <a:endParaRPr lang="en-US" sz="950" dirty="0"/>
          </a:p>
        </p:txBody>
      </p:sp>
      <p:sp>
        <p:nvSpPr>
          <p:cNvPr id="20" name="Shape 18"/>
          <p:cNvSpPr/>
          <p:nvPr/>
        </p:nvSpPr>
        <p:spPr>
          <a:xfrm>
            <a:off x="457200" y="3886200"/>
            <a:ext cx="3611880" cy="1691640"/>
          </a:xfrm>
          <a:prstGeom prst="roundRect">
            <a:avLst>
              <a:gd name="adj" fmla="val 4324"/>
            </a:avLst>
          </a:prstGeom>
          <a:solidFill>
            <a:srgbClr val="F4F7FC"/>
          </a:solidFill>
          <a:ln/>
        </p:spPr>
      </p:sp>
      <p:sp>
        <p:nvSpPr>
          <p:cNvPr id="21" name="Shape 19"/>
          <p:cNvSpPr/>
          <p:nvPr/>
        </p:nvSpPr>
        <p:spPr>
          <a:xfrm>
            <a:off x="658368" y="4069080"/>
            <a:ext cx="384048" cy="384048"/>
          </a:xfrm>
          <a:prstGeom prst="ellipse">
            <a:avLst/>
          </a:prstGeom>
          <a:solidFill>
            <a:srgbClr val="C97F3F"/>
          </a:solidFill>
          <a:ln/>
        </p:spPr>
      </p:sp>
      <p:sp>
        <p:nvSpPr>
          <p:cNvPr id="22" name="Text 20"/>
          <p:cNvSpPr/>
          <p:nvPr/>
        </p:nvSpPr>
        <p:spPr>
          <a:xfrm>
            <a:off x="65836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58368" y="450799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Encrypt / Decrypt Pair</a:t>
            </a:r>
            <a:endParaRPr lang="en-US" sz="1250" dirty="0"/>
          </a:p>
        </p:txBody>
      </p:sp>
      <p:sp>
        <p:nvSpPr>
          <p:cNvPr id="24" name="Text 22"/>
          <p:cNvSpPr/>
          <p:nvPr/>
        </p:nvSpPr>
        <p:spPr>
          <a:xfrm>
            <a:off x="658368" y="484632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symmetric_xor_cipher() and symmetric_xor_decipher() form a matched, testable round-trip.</a:t>
            </a:r>
            <a:endParaRPr lang="en-US" sz="950" dirty="0"/>
          </a:p>
        </p:txBody>
      </p:sp>
      <p:sp>
        <p:nvSpPr>
          <p:cNvPr id="25" name="Shape 23"/>
          <p:cNvSpPr/>
          <p:nvPr/>
        </p:nvSpPr>
        <p:spPr>
          <a:xfrm>
            <a:off x="4251960" y="3886200"/>
            <a:ext cx="3611880" cy="1691640"/>
          </a:xfrm>
          <a:prstGeom prst="roundRect">
            <a:avLst>
              <a:gd name="adj" fmla="val 4324"/>
            </a:avLst>
          </a:prstGeom>
          <a:solidFill>
            <a:srgbClr val="F4F7FC"/>
          </a:solidFill>
          <a:ln/>
        </p:spPr>
      </p:sp>
      <p:sp>
        <p:nvSpPr>
          <p:cNvPr id="26" name="Shape 24"/>
          <p:cNvSpPr/>
          <p:nvPr/>
        </p:nvSpPr>
        <p:spPr>
          <a:xfrm>
            <a:off x="4453128" y="4069080"/>
            <a:ext cx="384048" cy="384048"/>
          </a:xfrm>
          <a:prstGeom prst="ellipse">
            <a:avLst/>
          </a:prstGeom>
          <a:solidFill>
            <a:srgbClr val="C97F3F"/>
          </a:solidFill>
          <a:ln/>
        </p:spPr>
      </p:sp>
      <p:sp>
        <p:nvSpPr>
          <p:cNvPr id="27" name="Text 25"/>
          <p:cNvSpPr/>
          <p:nvPr/>
        </p:nvSpPr>
        <p:spPr>
          <a:xfrm>
            <a:off x="445312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453128" y="450799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RSA Key Simulation</a:t>
            </a:r>
            <a:endParaRPr lang="en-US" sz="1250" dirty="0"/>
          </a:p>
        </p:txBody>
      </p:sp>
      <p:sp>
        <p:nvSpPr>
          <p:cNvPr id="29" name="Text 27"/>
          <p:cNvSpPr/>
          <p:nvPr/>
        </p:nvSpPr>
        <p:spPr>
          <a:xfrm>
            <a:off x="4453128" y="484632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Generates a public key (e, n) and private key (d, n) from small prime values (p=61, q=53) to illustrate RSA's structure.</a:t>
            </a:r>
            <a:endParaRPr lang="en-US" sz="950" dirty="0"/>
          </a:p>
        </p:txBody>
      </p:sp>
      <p:sp>
        <p:nvSpPr>
          <p:cNvPr id="30" name="Shape 28"/>
          <p:cNvSpPr/>
          <p:nvPr/>
        </p:nvSpPr>
        <p:spPr>
          <a:xfrm>
            <a:off x="8046720" y="3886200"/>
            <a:ext cx="3611880" cy="1691640"/>
          </a:xfrm>
          <a:prstGeom prst="roundRect">
            <a:avLst>
              <a:gd name="adj" fmla="val 4324"/>
            </a:avLst>
          </a:prstGeom>
          <a:solidFill>
            <a:srgbClr val="F4F7FC"/>
          </a:solidFill>
          <a:ln/>
        </p:spPr>
      </p:sp>
      <p:sp>
        <p:nvSpPr>
          <p:cNvPr id="31" name="Shape 29"/>
          <p:cNvSpPr/>
          <p:nvPr/>
        </p:nvSpPr>
        <p:spPr>
          <a:xfrm>
            <a:off x="8247888" y="4069080"/>
            <a:ext cx="384048" cy="384048"/>
          </a:xfrm>
          <a:prstGeom prst="ellipse">
            <a:avLst/>
          </a:prstGeom>
          <a:solidFill>
            <a:srgbClr val="C97F3F"/>
          </a:solidFill>
          <a:ln/>
        </p:spPr>
      </p:sp>
      <p:sp>
        <p:nvSpPr>
          <p:cNvPr id="32" name="Text 30"/>
          <p:cNvSpPr/>
          <p:nvPr/>
        </p:nvSpPr>
        <p:spPr>
          <a:xfrm>
            <a:off x="824788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247888" y="4507992"/>
            <a:ext cx="3209544" cy="365760"/>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Console Verification</a:t>
            </a:r>
            <a:endParaRPr lang="en-US" sz="1250" dirty="0"/>
          </a:p>
        </p:txBody>
      </p:sp>
      <p:sp>
        <p:nvSpPr>
          <p:cNvPr id="34" name="Text 32"/>
          <p:cNvSpPr/>
          <p:nvPr/>
        </p:nvSpPr>
        <p:spPr>
          <a:xfrm>
            <a:off x="8247888" y="4846320"/>
            <a:ext cx="3209544" cy="685800"/>
          </a:xfrm>
          <a:prstGeom prst="rect">
            <a:avLst/>
          </a:prstGeom>
          <a:noFill/>
          <a:ln/>
        </p:spPr>
        <p:txBody>
          <a:bodyPr wrap="square" lIns="0" tIns="0" rIns="0" bIns="0" rtlCol="0" anchor="ctr"/>
          <a:lstStyle/>
          <a:p>
            <a:pPr indent="0" marL="0">
              <a:lnSpc>
                <a:spcPct val="112000"/>
              </a:lnSpc>
              <a:buNone/>
            </a:pPr>
            <a:r>
              <a:rPr lang="en-US" sz="950" dirty="0">
                <a:solidFill>
                  <a:srgbClr val="6E84A6"/>
                </a:solidFill>
                <a:latin typeface="Calibri" pitchFamily="34" charset="0"/>
                <a:ea typeface="Calibri" pitchFamily="34" charset="-122"/>
                <a:cs typeface="Calibri" pitchFamily="34" charset="-120"/>
              </a:rPr>
              <a:t>Each run prints the hash, ciphertext, decrypted text, and key pair — confirming correctness end-to-end.</a:t>
            </a:r>
            <a:endParaRPr lang="en-US" sz="950" dirty="0"/>
          </a:p>
        </p:txBody>
      </p:sp>
      <p:sp>
        <p:nvSpPr>
          <p:cNvPr id="35" name="Text 33"/>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36" name="Text 34"/>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ANALYZER ARCHITECTURE</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How a Raw Packet Becomes a Security Alert</a:t>
            </a:r>
            <a:endParaRPr lang="en-US" sz="2800" dirty="0"/>
          </a:p>
        </p:txBody>
      </p:sp>
      <p:sp>
        <p:nvSpPr>
          <p:cNvPr id="4" name="Shape 2"/>
          <p:cNvSpPr/>
          <p:nvPr/>
        </p:nvSpPr>
        <p:spPr>
          <a:xfrm>
            <a:off x="457200" y="1417320"/>
            <a:ext cx="1417320" cy="804672"/>
          </a:xfrm>
          <a:prstGeom prst="roundRect">
            <a:avLst>
              <a:gd name="adj" fmla="val 6818"/>
            </a:avLst>
          </a:prstGeom>
          <a:solidFill>
            <a:srgbClr val="13294B"/>
          </a:solidFill>
          <a:ln/>
        </p:spPr>
      </p:sp>
      <p:sp>
        <p:nvSpPr>
          <p:cNvPr id="5" name="Text 3"/>
          <p:cNvSpPr/>
          <p:nvPr/>
        </p:nvSpPr>
        <p:spPr>
          <a:xfrm>
            <a:off x="457200" y="1417320"/>
            <a:ext cx="1417320" cy="8046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CAPTURE</a:t>
            </a:r>
            <a:endParaRPr lang="en-US" sz="1100" dirty="0"/>
          </a:p>
        </p:txBody>
      </p:sp>
      <p:sp>
        <p:nvSpPr>
          <p:cNvPr id="6" name="Shape 4"/>
          <p:cNvSpPr/>
          <p:nvPr/>
        </p:nvSpPr>
        <p:spPr>
          <a:xfrm>
            <a:off x="2057400" y="1417320"/>
            <a:ext cx="9189720" cy="804672"/>
          </a:xfrm>
          <a:prstGeom prst="roundRect">
            <a:avLst>
              <a:gd name="adj" fmla="val 6818"/>
            </a:avLst>
          </a:prstGeom>
          <a:solidFill>
            <a:srgbClr val="F4F7FC"/>
          </a:solidFill>
          <a:ln/>
        </p:spPr>
      </p:sp>
      <p:sp>
        <p:nvSpPr>
          <p:cNvPr id="7" name="Text 5"/>
          <p:cNvSpPr/>
          <p:nvPr/>
        </p:nvSpPr>
        <p:spPr>
          <a:xfrm>
            <a:off x="2286000" y="1490472"/>
            <a:ext cx="3017520" cy="65836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Raw Packet Bytes</a:t>
            </a:r>
            <a:endParaRPr lang="en-US" sz="1250" dirty="0"/>
          </a:p>
        </p:txBody>
      </p:sp>
      <p:sp>
        <p:nvSpPr>
          <p:cNvPr id="8" name="Text 6"/>
          <p:cNvSpPr/>
          <p:nvPr/>
        </p:nvSpPr>
        <p:spPr>
          <a:xfrm>
            <a:off x="5394960" y="1490472"/>
            <a:ext cx="5669280" cy="658368"/>
          </a:xfrm>
          <a:prstGeom prst="rect">
            <a:avLst/>
          </a:prstGeom>
          <a:noFill/>
          <a:ln/>
        </p:spPr>
        <p:txBody>
          <a:bodyPr wrap="square" lIns="0" tIns="0" rIns="0" bIns="0" rtlCol="0" anchor="ctr"/>
          <a:lstStyle/>
          <a:p>
            <a:pPr indent="0" marL="0">
              <a:lnSpc>
                <a:spcPct val="110000"/>
              </a:lnSpc>
              <a:buNone/>
            </a:pPr>
            <a:r>
              <a:rPr lang="en-US" sz="1050" dirty="0">
                <a:solidFill>
                  <a:srgbClr val="6E84A6"/>
                </a:solidFill>
                <a:latin typeface="Calibri" pitchFamily="34" charset="0"/>
                <a:ea typeface="Calibri" pitchFamily="34" charset="-122"/>
                <a:cs typeface="Calibri" pitchFamily="34" charset="-120"/>
              </a:rPr>
              <a:t>A raw byte sequence representing one network packet (sample data in this build).</a:t>
            </a:r>
            <a:endParaRPr lang="en-US" sz="1050" dirty="0"/>
          </a:p>
        </p:txBody>
      </p:sp>
      <p:sp>
        <p:nvSpPr>
          <p:cNvPr id="9" name="Text 7"/>
          <p:cNvSpPr/>
          <p:nvPr/>
        </p:nvSpPr>
        <p:spPr>
          <a:xfrm>
            <a:off x="960120" y="2203704"/>
            <a:ext cx="411480" cy="228600"/>
          </a:xfrm>
          <a:prstGeom prst="rect">
            <a:avLst/>
          </a:prstGeom>
          <a:noFill/>
          <a:ln/>
        </p:spPr>
        <p:txBody>
          <a:bodyPr wrap="square" lIns="0" tIns="0" rIns="0" bIns="0" rtlCol="0" anchor="ctr"/>
          <a:lstStyle/>
          <a:p>
            <a:pPr algn="ctr" indent="0" marL="0">
              <a:buNone/>
            </a:pPr>
            <a:r>
              <a:rPr lang="en-US" sz="1400" b="1" dirty="0">
                <a:solidFill>
                  <a:srgbClr val="6E84A6"/>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57200" y="2368296"/>
            <a:ext cx="1417320" cy="804672"/>
          </a:xfrm>
          <a:prstGeom prst="roundRect">
            <a:avLst>
              <a:gd name="adj" fmla="val 6818"/>
            </a:avLst>
          </a:prstGeom>
          <a:solidFill>
            <a:srgbClr val="1F3D6B"/>
          </a:solidFill>
          <a:ln/>
        </p:spPr>
      </p:sp>
      <p:sp>
        <p:nvSpPr>
          <p:cNvPr id="11" name="Text 9"/>
          <p:cNvSpPr/>
          <p:nvPr/>
        </p:nvSpPr>
        <p:spPr>
          <a:xfrm>
            <a:off x="457200" y="2368296"/>
            <a:ext cx="1417320" cy="8046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PARSE</a:t>
            </a:r>
            <a:endParaRPr lang="en-US" sz="1100" dirty="0"/>
          </a:p>
        </p:txBody>
      </p:sp>
      <p:sp>
        <p:nvSpPr>
          <p:cNvPr id="12" name="Shape 10"/>
          <p:cNvSpPr/>
          <p:nvPr/>
        </p:nvSpPr>
        <p:spPr>
          <a:xfrm>
            <a:off x="2057400" y="2368296"/>
            <a:ext cx="9189720" cy="804672"/>
          </a:xfrm>
          <a:prstGeom prst="roundRect">
            <a:avLst>
              <a:gd name="adj" fmla="val 6818"/>
            </a:avLst>
          </a:prstGeom>
          <a:solidFill>
            <a:srgbClr val="F4F7FC"/>
          </a:solidFill>
          <a:ln/>
        </p:spPr>
      </p:sp>
      <p:sp>
        <p:nvSpPr>
          <p:cNvPr id="13" name="Text 11"/>
          <p:cNvSpPr/>
          <p:nvPr/>
        </p:nvSpPr>
        <p:spPr>
          <a:xfrm>
            <a:off x="2286000" y="2441448"/>
            <a:ext cx="3017520" cy="65836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Ethernet Frame Parsing</a:t>
            </a:r>
            <a:endParaRPr lang="en-US" sz="1250" dirty="0"/>
          </a:p>
        </p:txBody>
      </p:sp>
      <p:sp>
        <p:nvSpPr>
          <p:cNvPr id="14" name="Text 12"/>
          <p:cNvSpPr/>
          <p:nvPr/>
        </p:nvSpPr>
        <p:spPr>
          <a:xfrm>
            <a:off x="5394960" y="2441448"/>
            <a:ext cx="5669280" cy="658368"/>
          </a:xfrm>
          <a:prstGeom prst="rect">
            <a:avLst/>
          </a:prstGeom>
          <a:noFill/>
          <a:ln/>
        </p:spPr>
        <p:txBody>
          <a:bodyPr wrap="square" lIns="0" tIns="0" rIns="0" bIns="0" rtlCol="0" anchor="ctr"/>
          <a:lstStyle/>
          <a:p>
            <a:pPr indent="0" marL="0">
              <a:lnSpc>
                <a:spcPct val="110000"/>
              </a:lnSpc>
              <a:buNone/>
            </a:pPr>
            <a:r>
              <a:rPr lang="en-US" sz="1050" dirty="0">
                <a:solidFill>
                  <a:srgbClr val="6E84A6"/>
                </a:solidFill>
                <a:latin typeface="Calibri" pitchFamily="34" charset="0"/>
                <a:ea typeface="Calibri" pitchFamily="34" charset="-122"/>
                <a:cs typeface="Calibri" pitchFamily="34" charset="-120"/>
              </a:rPr>
              <a:t>struct.unpack extracts destination MAC, source MAC, and EtherType from the first 14 bytes.</a:t>
            </a:r>
            <a:endParaRPr lang="en-US" sz="1050" dirty="0"/>
          </a:p>
        </p:txBody>
      </p:sp>
      <p:sp>
        <p:nvSpPr>
          <p:cNvPr id="15" name="Text 13"/>
          <p:cNvSpPr/>
          <p:nvPr/>
        </p:nvSpPr>
        <p:spPr>
          <a:xfrm>
            <a:off x="960120" y="3154680"/>
            <a:ext cx="411480" cy="228600"/>
          </a:xfrm>
          <a:prstGeom prst="rect">
            <a:avLst/>
          </a:prstGeom>
          <a:noFill/>
          <a:ln/>
        </p:spPr>
        <p:txBody>
          <a:bodyPr wrap="square" lIns="0" tIns="0" rIns="0" bIns="0" rtlCol="0" anchor="ctr"/>
          <a:lstStyle/>
          <a:p>
            <a:pPr algn="ctr" indent="0" marL="0">
              <a:buNone/>
            </a:pPr>
            <a:r>
              <a:rPr lang="en-US" sz="1400" b="1" dirty="0">
                <a:solidFill>
                  <a:srgbClr val="6E84A6"/>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57200" y="3319272"/>
            <a:ext cx="1417320" cy="804672"/>
          </a:xfrm>
          <a:prstGeom prst="roundRect">
            <a:avLst>
              <a:gd name="adj" fmla="val 6818"/>
            </a:avLst>
          </a:prstGeom>
          <a:solidFill>
            <a:srgbClr val="13294B"/>
          </a:solidFill>
          <a:ln/>
        </p:spPr>
      </p:sp>
      <p:sp>
        <p:nvSpPr>
          <p:cNvPr id="17" name="Text 15"/>
          <p:cNvSpPr/>
          <p:nvPr/>
        </p:nvSpPr>
        <p:spPr>
          <a:xfrm>
            <a:off x="457200" y="3319272"/>
            <a:ext cx="1417320" cy="8046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DECODE</a:t>
            </a:r>
            <a:endParaRPr lang="en-US" sz="1100" dirty="0"/>
          </a:p>
        </p:txBody>
      </p:sp>
      <p:sp>
        <p:nvSpPr>
          <p:cNvPr id="18" name="Shape 16"/>
          <p:cNvSpPr/>
          <p:nvPr/>
        </p:nvSpPr>
        <p:spPr>
          <a:xfrm>
            <a:off x="2057400" y="3319272"/>
            <a:ext cx="9189720" cy="804672"/>
          </a:xfrm>
          <a:prstGeom prst="roundRect">
            <a:avLst>
              <a:gd name="adj" fmla="val 6818"/>
            </a:avLst>
          </a:prstGeom>
          <a:solidFill>
            <a:srgbClr val="F4F7FC"/>
          </a:solidFill>
          <a:ln/>
        </p:spPr>
      </p:sp>
      <p:sp>
        <p:nvSpPr>
          <p:cNvPr id="19" name="Text 17"/>
          <p:cNvSpPr/>
          <p:nvPr/>
        </p:nvSpPr>
        <p:spPr>
          <a:xfrm>
            <a:off x="2286000" y="3392424"/>
            <a:ext cx="3017520" cy="65836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IPv4 Header Parsing</a:t>
            </a:r>
            <a:endParaRPr lang="en-US" sz="1250" dirty="0"/>
          </a:p>
        </p:txBody>
      </p:sp>
      <p:sp>
        <p:nvSpPr>
          <p:cNvPr id="20" name="Text 18"/>
          <p:cNvSpPr/>
          <p:nvPr/>
        </p:nvSpPr>
        <p:spPr>
          <a:xfrm>
            <a:off x="5394960" y="3392424"/>
            <a:ext cx="5669280" cy="658368"/>
          </a:xfrm>
          <a:prstGeom prst="rect">
            <a:avLst/>
          </a:prstGeom>
          <a:noFill/>
          <a:ln/>
        </p:spPr>
        <p:txBody>
          <a:bodyPr wrap="square" lIns="0" tIns="0" rIns="0" bIns="0" rtlCol="0" anchor="ctr"/>
          <a:lstStyle/>
          <a:p>
            <a:pPr indent="0" marL="0">
              <a:lnSpc>
                <a:spcPct val="110000"/>
              </a:lnSpc>
              <a:buNone/>
            </a:pPr>
            <a:r>
              <a:rPr lang="en-US" sz="1050" dirty="0">
                <a:solidFill>
                  <a:srgbClr val="6E84A6"/>
                </a:solidFill>
                <a:latin typeface="Calibri" pitchFamily="34" charset="0"/>
                <a:ea typeface="Calibri" pitchFamily="34" charset="-122"/>
                <a:cs typeface="Calibri" pitchFamily="34" charset="-120"/>
              </a:rPr>
              <a:t>TTL, protocol ID, and source/target IPs are unpacked from the next header segment.</a:t>
            </a:r>
            <a:endParaRPr lang="en-US" sz="1050" dirty="0"/>
          </a:p>
        </p:txBody>
      </p:sp>
      <p:sp>
        <p:nvSpPr>
          <p:cNvPr id="21" name="Text 19"/>
          <p:cNvSpPr/>
          <p:nvPr/>
        </p:nvSpPr>
        <p:spPr>
          <a:xfrm>
            <a:off x="960120" y="4105656"/>
            <a:ext cx="411480" cy="228600"/>
          </a:xfrm>
          <a:prstGeom prst="rect">
            <a:avLst/>
          </a:prstGeom>
          <a:noFill/>
          <a:ln/>
        </p:spPr>
        <p:txBody>
          <a:bodyPr wrap="square" lIns="0" tIns="0" rIns="0" bIns="0" rtlCol="0" anchor="ctr"/>
          <a:lstStyle/>
          <a:p>
            <a:pPr algn="ctr" indent="0" marL="0">
              <a:buNone/>
            </a:pPr>
            <a:r>
              <a:rPr lang="en-US" sz="1400" b="1" dirty="0">
                <a:solidFill>
                  <a:srgbClr val="6E84A6"/>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457200" y="4270248"/>
            <a:ext cx="1417320" cy="804672"/>
          </a:xfrm>
          <a:prstGeom prst="roundRect">
            <a:avLst>
              <a:gd name="adj" fmla="val 6818"/>
            </a:avLst>
          </a:prstGeom>
          <a:solidFill>
            <a:srgbClr val="1F3D6B"/>
          </a:solidFill>
          <a:ln/>
        </p:spPr>
      </p:sp>
      <p:sp>
        <p:nvSpPr>
          <p:cNvPr id="23" name="Text 21"/>
          <p:cNvSpPr/>
          <p:nvPr/>
        </p:nvSpPr>
        <p:spPr>
          <a:xfrm>
            <a:off x="457200" y="4270248"/>
            <a:ext cx="1417320" cy="8046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INSPECT</a:t>
            </a:r>
            <a:endParaRPr lang="en-US" sz="1100" dirty="0"/>
          </a:p>
        </p:txBody>
      </p:sp>
      <p:sp>
        <p:nvSpPr>
          <p:cNvPr id="24" name="Shape 22"/>
          <p:cNvSpPr/>
          <p:nvPr/>
        </p:nvSpPr>
        <p:spPr>
          <a:xfrm>
            <a:off x="2057400" y="4270248"/>
            <a:ext cx="9189720" cy="804672"/>
          </a:xfrm>
          <a:prstGeom prst="roundRect">
            <a:avLst>
              <a:gd name="adj" fmla="val 6818"/>
            </a:avLst>
          </a:prstGeom>
          <a:solidFill>
            <a:srgbClr val="F4F7FC"/>
          </a:solidFill>
          <a:ln/>
        </p:spPr>
      </p:sp>
      <p:sp>
        <p:nvSpPr>
          <p:cNvPr id="25" name="Text 23"/>
          <p:cNvSpPr/>
          <p:nvPr/>
        </p:nvSpPr>
        <p:spPr>
          <a:xfrm>
            <a:off x="2286000" y="4343400"/>
            <a:ext cx="3017520" cy="65836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Payload Analysis</a:t>
            </a:r>
            <a:endParaRPr lang="en-US" sz="1250" dirty="0"/>
          </a:p>
        </p:txBody>
      </p:sp>
      <p:sp>
        <p:nvSpPr>
          <p:cNvPr id="26" name="Text 24"/>
          <p:cNvSpPr/>
          <p:nvPr/>
        </p:nvSpPr>
        <p:spPr>
          <a:xfrm>
            <a:off x="5394960" y="4343400"/>
            <a:ext cx="5669280" cy="658368"/>
          </a:xfrm>
          <a:prstGeom prst="rect">
            <a:avLst/>
          </a:prstGeom>
          <a:noFill/>
          <a:ln/>
        </p:spPr>
        <p:txBody>
          <a:bodyPr wrap="square" lIns="0" tIns="0" rIns="0" bIns="0" rtlCol="0" anchor="ctr"/>
          <a:lstStyle/>
          <a:p>
            <a:pPr indent="0" marL="0">
              <a:lnSpc>
                <a:spcPct val="110000"/>
              </a:lnSpc>
              <a:buNone/>
            </a:pPr>
            <a:r>
              <a:rPr lang="en-US" sz="1050" dirty="0">
                <a:solidFill>
                  <a:srgbClr val="6E84A6"/>
                </a:solidFill>
                <a:latin typeface="Calibri" pitchFamily="34" charset="0"/>
                <a:ea typeface="Calibri" pitchFamily="34" charset="-122"/>
                <a:cs typeface="Calibri" pitchFamily="34" charset="-120"/>
              </a:rPr>
              <a:t>The remaining payload is decoded as UTF-8 and scanned for HTTP/GET/POST keywords.</a:t>
            </a:r>
            <a:endParaRPr lang="en-US" sz="1050" dirty="0"/>
          </a:p>
        </p:txBody>
      </p:sp>
      <p:sp>
        <p:nvSpPr>
          <p:cNvPr id="27" name="Text 25"/>
          <p:cNvSpPr/>
          <p:nvPr/>
        </p:nvSpPr>
        <p:spPr>
          <a:xfrm>
            <a:off x="960120" y="5056632"/>
            <a:ext cx="411480" cy="228600"/>
          </a:xfrm>
          <a:prstGeom prst="rect">
            <a:avLst/>
          </a:prstGeom>
          <a:noFill/>
          <a:ln/>
        </p:spPr>
        <p:txBody>
          <a:bodyPr wrap="square" lIns="0" tIns="0" rIns="0" bIns="0" rtlCol="0" anchor="ctr"/>
          <a:lstStyle/>
          <a:p>
            <a:pPr algn="ctr" indent="0" marL="0">
              <a:buNone/>
            </a:pPr>
            <a:r>
              <a:rPr lang="en-US" sz="1400" b="1" dirty="0">
                <a:solidFill>
                  <a:srgbClr val="6E84A6"/>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457200" y="5221224"/>
            <a:ext cx="1417320" cy="804672"/>
          </a:xfrm>
          <a:prstGeom prst="roundRect">
            <a:avLst>
              <a:gd name="adj" fmla="val 6818"/>
            </a:avLst>
          </a:prstGeom>
          <a:solidFill>
            <a:srgbClr val="13294B"/>
          </a:solidFill>
          <a:ln/>
        </p:spPr>
      </p:sp>
      <p:sp>
        <p:nvSpPr>
          <p:cNvPr id="29" name="Text 27"/>
          <p:cNvSpPr/>
          <p:nvPr/>
        </p:nvSpPr>
        <p:spPr>
          <a:xfrm>
            <a:off x="457200" y="5221224"/>
            <a:ext cx="1417320" cy="8046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ALERT</a:t>
            </a:r>
            <a:endParaRPr lang="en-US" sz="1100" dirty="0"/>
          </a:p>
        </p:txBody>
      </p:sp>
      <p:sp>
        <p:nvSpPr>
          <p:cNvPr id="30" name="Shape 28"/>
          <p:cNvSpPr/>
          <p:nvPr/>
        </p:nvSpPr>
        <p:spPr>
          <a:xfrm>
            <a:off x="2057400" y="5221224"/>
            <a:ext cx="9189720" cy="804672"/>
          </a:xfrm>
          <a:prstGeom prst="roundRect">
            <a:avLst>
              <a:gd name="adj" fmla="val 6818"/>
            </a:avLst>
          </a:prstGeom>
          <a:solidFill>
            <a:srgbClr val="F4F7FC"/>
          </a:solidFill>
          <a:ln/>
        </p:spPr>
      </p:sp>
      <p:sp>
        <p:nvSpPr>
          <p:cNvPr id="31" name="Text 29"/>
          <p:cNvSpPr/>
          <p:nvPr/>
        </p:nvSpPr>
        <p:spPr>
          <a:xfrm>
            <a:off x="2286000" y="5294376"/>
            <a:ext cx="3017520" cy="658368"/>
          </a:xfrm>
          <a:prstGeom prst="rect">
            <a:avLst/>
          </a:prstGeom>
          <a:noFill/>
          <a:ln/>
        </p:spPr>
        <p:txBody>
          <a:bodyPr wrap="square" lIns="0" tIns="0" rIns="0" bIns="0"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Security Report</a:t>
            </a:r>
            <a:endParaRPr lang="en-US" sz="1250" dirty="0"/>
          </a:p>
        </p:txBody>
      </p:sp>
      <p:sp>
        <p:nvSpPr>
          <p:cNvPr id="32" name="Text 30"/>
          <p:cNvSpPr/>
          <p:nvPr/>
        </p:nvSpPr>
        <p:spPr>
          <a:xfrm>
            <a:off x="5394960" y="5294376"/>
            <a:ext cx="5669280" cy="658368"/>
          </a:xfrm>
          <a:prstGeom prst="rect">
            <a:avLst/>
          </a:prstGeom>
          <a:noFill/>
          <a:ln/>
        </p:spPr>
        <p:txBody>
          <a:bodyPr wrap="square" lIns="0" tIns="0" rIns="0" bIns="0" rtlCol="0" anchor="ctr"/>
          <a:lstStyle/>
          <a:p>
            <a:pPr indent="0" marL="0">
              <a:lnSpc>
                <a:spcPct val="110000"/>
              </a:lnSpc>
              <a:buNone/>
            </a:pPr>
            <a:r>
              <a:rPr lang="en-US" sz="1050" dirty="0">
                <a:solidFill>
                  <a:srgbClr val="6E84A6"/>
                </a:solidFill>
                <a:latin typeface="Calibri" pitchFamily="34" charset="0"/>
                <a:ea typeface="Calibri" pitchFamily="34" charset="-122"/>
                <a:cs typeface="Calibri" pitchFamily="34" charset="-120"/>
              </a:rPr>
              <a:t>A structured console report prints frame, header, and a WARNING if plaintext traffic is found.</a:t>
            </a:r>
            <a:endParaRPr lang="en-US" sz="1050" dirty="0"/>
          </a:p>
        </p:txBody>
      </p:sp>
      <p:sp>
        <p:nvSpPr>
          <p:cNvPr id="33" name="Text 31"/>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34" name="Text 32"/>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TECHNOLOGIES &amp; TOOLS</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The Toolkit Behind Both Scripts</a:t>
            </a:r>
            <a:endParaRPr lang="en-US" sz="2800" dirty="0"/>
          </a:p>
        </p:txBody>
      </p:sp>
      <p:sp>
        <p:nvSpPr>
          <p:cNvPr id="4" name="Shape 2"/>
          <p:cNvSpPr/>
          <p:nvPr/>
        </p:nvSpPr>
        <p:spPr>
          <a:xfrm>
            <a:off x="457200" y="1508760"/>
            <a:ext cx="2697480" cy="2194560"/>
          </a:xfrm>
          <a:prstGeom prst="roundRect">
            <a:avLst>
              <a:gd name="adj" fmla="val 3333"/>
            </a:avLst>
          </a:prstGeom>
          <a:solidFill>
            <a:srgbClr val="F4F7FC"/>
          </a:solidFill>
          <a:ln/>
        </p:spPr>
      </p:sp>
      <p:sp>
        <p:nvSpPr>
          <p:cNvPr id="5" name="Shape 3"/>
          <p:cNvSpPr/>
          <p:nvPr/>
        </p:nvSpPr>
        <p:spPr>
          <a:xfrm>
            <a:off x="640080" y="1691640"/>
            <a:ext cx="502920" cy="502920"/>
          </a:xfrm>
          <a:prstGeom prst="ellipse">
            <a:avLst/>
          </a:prstGeom>
          <a:solidFill>
            <a:srgbClr val="13294B"/>
          </a:solidFill>
          <a:ln/>
        </p:spPr>
      </p:sp>
      <p:sp>
        <p:nvSpPr>
          <p:cNvPr id="6" name="Text 4"/>
          <p:cNvSpPr/>
          <p:nvPr/>
        </p:nvSpPr>
        <p:spPr>
          <a:xfrm>
            <a:off x="640080" y="169164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PY</a:t>
            </a:r>
            <a:endParaRPr lang="en-US" sz="950" dirty="0"/>
          </a:p>
        </p:txBody>
      </p:sp>
      <p:sp>
        <p:nvSpPr>
          <p:cNvPr id="7" name="Text 5"/>
          <p:cNvSpPr/>
          <p:nvPr/>
        </p:nvSpPr>
        <p:spPr>
          <a:xfrm>
            <a:off x="640080" y="228600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Python 3</a:t>
            </a:r>
            <a:endParaRPr lang="en-US" sz="1200" dirty="0"/>
          </a:p>
        </p:txBody>
      </p:sp>
      <p:sp>
        <p:nvSpPr>
          <p:cNvPr id="8" name="Text 6"/>
          <p:cNvSpPr/>
          <p:nvPr/>
        </p:nvSpPr>
        <p:spPr>
          <a:xfrm>
            <a:off x="640080" y="269748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Core language used for both the network analyzer and the cryptography engine.</a:t>
            </a:r>
            <a:endParaRPr lang="en-US" sz="950" dirty="0"/>
          </a:p>
        </p:txBody>
      </p:sp>
      <p:sp>
        <p:nvSpPr>
          <p:cNvPr id="9" name="Shape 7"/>
          <p:cNvSpPr/>
          <p:nvPr/>
        </p:nvSpPr>
        <p:spPr>
          <a:xfrm>
            <a:off x="3337560" y="1508760"/>
            <a:ext cx="2697480" cy="2194560"/>
          </a:xfrm>
          <a:prstGeom prst="roundRect">
            <a:avLst>
              <a:gd name="adj" fmla="val 3333"/>
            </a:avLst>
          </a:prstGeom>
          <a:solidFill>
            <a:srgbClr val="F4F7FC"/>
          </a:solidFill>
          <a:ln/>
        </p:spPr>
      </p:sp>
      <p:sp>
        <p:nvSpPr>
          <p:cNvPr id="10" name="Shape 8"/>
          <p:cNvSpPr/>
          <p:nvPr/>
        </p:nvSpPr>
        <p:spPr>
          <a:xfrm>
            <a:off x="3520440" y="1691640"/>
            <a:ext cx="502920" cy="502920"/>
          </a:xfrm>
          <a:prstGeom prst="ellipse">
            <a:avLst/>
          </a:prstGeom>
          <a:solidFill>
            <a:srgbClr val="13294B"/>
          </a:solidFill>
          <a:ln/>
        </p:spPr>
      </p:sp>
      <p:sp>
        <p:nvSpPr>
          <p:cNvPr id="11" name="Text 9"/>
          <p:cNvSpPr/>
          <p:nvPr/>
        </p:nvSpPr>
        <p:spPr>
          <a:xfrm>
            <a:off x="3520440" y="169164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a:t>
            </a:r>
            <a:endParaRPr lang="en-US" sz="950" dirty="0"/>
          </a:p>
        </p:txBody>
      </p:sp>
      <p:sp>
        <p:nvSpPr>
          <p:cNvPr id="12" name="Text 10"/>
          <p:cNvSpPr/>
          <p:nvPr/>
        </p:nvSpPr>
        <p:spPr>
          <a:xfrm>
            <a:off x="3520440" y="228600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socket module</a:t>
            </a:r>
            <a:endParaRPr lang="en-US" sz="1200" dirty="0"/>
          </a:p>
        </p:txBody>
      </p:sp>
      <p:sp>
        <p:nvSpPr>
          <p:cNvPr id="13" name="Text 11"/>
          <p:cNvSpPr/>
          <p:nvPr/>
        </p:nvSpPr>
        <p:spPr>
          <a:xfrm>
            <a:off x="3520440" y="269748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Provides low-level networking utilities such as htons() for byte-order conversion.</a:t>
            </a:r>
            <a:endParaRPr lang="en-US" sz="950" dirty="0"/>
          </a:p>
        </p:txBody>
      </p:sp>
      <p:sp>
        <p:nvSpPr>
          <p:cNvPr id="14" name="Shape 12"/>
          <p:cNvSpPr/>
          <p:nvPr/>
        </p:nvSpPr>
        <p:spPr>
          <a:xfrm>
            <a:off x="6217920" y="1508760"/>
            <a:ext cx="2697480" cy="2194560"/>
          </a:xfrm>
          <a:prstGeom prst="roundRect">
            <a:avLst>
              <a:gd name="adj" fmla="val 3333"/>
            </a:avLst>
          </a:prstGeom>
          <a:solidFill>
            <a:srgbClr val="F4F7FC"/>
          </a:solidFill>
          <a:ln/>
        </p:spPr>
      </p:sp>
      <p:sp>
        <p:nvSpPr>
          <p:cNvPr id="15" name="Shape 13"/>
          <p:cNvSpPr/>
          <p:nvPr/>
        </p:nvSpPr>
        <p:spPr>
          <a:xfrm>
            <a:off x="6400800" y="1691640"/>
            <a:ext cx="502920" cy="502920"/>
          </a:xfrm>
          <a:prstGeom prst="ellipse">
            <a:avLst/>
          </a:prstGeom>
          <a:solidFill>
            <a:srgbClr val="13294B"/>
          </a:solidFill>
          <a:ln/>
        </p:spPr>
      </p:sp>
      <p:sp>
        <p:nvSpPr>
          <p:cNvPr id="16" name="Text 14"/>
          <p:cNvSpPr/>
          <p:nvPr/>
        </p:nvSpPr>
        <p:spPr>
          <a:xfrm>
            <a:off x="6400800" y="169164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
            </a:r>
            <a:endParaRPr lang="en-US" sz="950" dirty="0"/>
          </a:p>
        </p:txBody>
      </p:sp>
      <p:sp>
        <p:nvSpPr>
          <p:cNvPr id="17" name="Text 15"/>
          <p:cNvSpPr/>
          <p:nvPr/>
        </p:nvSpPr>
        <p:spPr>
          <a:xfrm>
            <a:off x="6400800" y="228600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struct module</a:t>
            </a:r>
            <a:endParaRPr lang="en-US" sz="1200" dirty="0"/>
          </a:p>
        </p:txBody>
      </p:sp>
      <p:sp>
        <p:nvSpPr>
          <p:cNvPr id="18" name="Text 16"/>
          <p:cNvSpPr/>
          <p:nvPr/>
        </p:nvSpPr>
        <p:spPr>
          <a:xfrm>
            <a:off x="6400800" y="269748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Unpacks fixed-width binary data — Ethernet and IPv4 headers — into readable fields.</a:t>
            </a:r>
            <a:endParaRPr lang="en-US" sz="950" dirty="0"/>
          </a:p>
        </p:txBody>
      </p:sp>
      <p:sp>
        <p:nvSpPr>
          <p:cNvPr id="19" name="Shape 17"/>
          <p:cNvSpPr/>
          <p:nvPr/>
        </p:nvSpPr>
        <p:spPr>
          <a:xfrm>
            <a:off x="9098280" y="1508760"/>
            <a:ext cx="2697480" cy="2194560"/>
          </a:xfrm>
          <a:prstGeom prst="roundRect">
            <a:avLst>
              <a:gd name="adj" fmla="val 3333"/>
            </a:avLst>
          </a:prstGeom>
          <a:solidFill>
            <a:srgbClr val="F4F7FC"/>
          </a:solidFill>
          <a:ln/>
        </p:spPr>
      </p:sp>
      <p:sp>
        <p:nvSpPr>
          <p:cNvPr id="20" name="Shape 18"/>
          <p:cNvSpPr/>
          <p:nvPr/>
        </p:nvSpPr>
        <p:spPr>
          <a:xfrm>
            <a:off x="9281160" y="1691640"/>
            <a:ext cx="502920" cy="502920"/>
          </a:xfrm>
          <a:prstGeom prst="ellipse">
            <a:avLst/>
          </a:prstGeom>
          <a:solidFill>
            <a:srgbClr val="13294B"/>
          </a:solidFill>
          <a:ln/>
        </p:spPr>
      </p:sp>
      <p:sp>
        <p:nvSpPr>
          <p:cNvPr id="21" name="Text 19"/>
          <p:cNvSpPr/>
          <p:nvPr/>
        </p:nvSpPr>
        <p:spPr>
          <a:xfrm>
            <a:off x="9281160" y="169164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HL</a:t>
            </a:r>
            <a:endParaRPr lang="en-US" sz="950" dirty="0"/>
          </a:p>
        </p:txBody>
      </p:sp>
      <p:sp>
        <p:nvSpPr>
          <p:cNvPr id="22" name="Text 20"/>
          <p:cNvSpPr/>
          <p:nvPr/>
        </p:nvSpPr>
        <p:spPr>
          <a:xfrm>
            <a:off x="9281160" y="228600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hashlib</a:t>
            </a:r>
            <a:endParaRPr lang="en-US" sz="1200" dirty="0"/>
          </a:p>
        </p:txBody>
      </p:sp>
      <p:sp>
        <p:nvSpPr>
          <p:cNvPr id="23" name="Text 21"/>
          <p:cNvSpPr/>
          <p:nvPr/>
        </p:nvSpPr>
        <p:spPr>
          <a:xfrm>
            <a:off x="9281160" y="269748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Generates SHA-256 hashes for message integrity verification.</a:t>
            </a:r>
            <a:endParaRPr lang="en-US" sz="950" dirty="0"/>
          </a:p>
        </p:txBody>
      </p:sp>
      <p:sp>
        <p:nvSpPr>
          <p:cNvPr id="24" name="Shape 22"/>
          <p:cNvSpPr/>
          <p:nvPr/>
        </p:nvSpPr>
        <p:spPr>
          <a:xfrm>
            <a:off x="457200" y="3886200"/>
            <a:ext cx="2697480" cy="2194560"/>
          </a:xfrm>
          <a:prstGeom prst="roundRect">
            <a:avLst>
              <a:gd name="adj" fmla="val 3333"/>
            </a:avLst>
          </a:prstGeom>
          <a:solidFill>
            <a:srgbClr val="F4F7FC"/>
          </a:solidFill>
          <a:ln/>
        </p:spPr>
      </p:sp>
      <p:sp>
        <p:nvSpPr>
          <p:cNvPr id="25" name="Shape 23"/>
          <p:cNvSpPr/>
          <p:nvPr/>
        </p:nvSpPr>
        <p:spPr>
          <a:xfrm>
            <a:off x="640080" y="4069080"/>
            <a:ext cx="502920" cy="502920"/>
          </a:xfrm>
          <a:prstGeom prst="ellipse">
            <a:avLst/>
          </a:prstGeom>
          <a:solidFill>
            <a:srgbClr val="13294B"/>
          </a:solidFill>
          <a:ln/>
        </p:spPr>
      </p:sp>
      <p:sp>
        <p:nvSpPr>
          <p:cNvPr id="26" name="Text 24"/>
          <p:cNvSpPr/>
          <p:nvPr/>
        </p:nvSpPr>
        <p:spPr>
          <a:xfrm>
            <a:off x="640080" y="406908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XOR</a:t>
            </a:r>
            <a:endParaRPr lang="en-US" sz="950" dirty="0"/>
          </a:p>
        </p:txBody>
      </p:sp>
      <p:sp>
        <p:nvSpPr>
          <p:cNvPr id="27" name="Text 25"/>
          <p:cNvSpPr/>
          <p:nvPr/>
        </p:nvSpPr>
        <p:spPr>
          <a:xfrm>
            <a:off x="640080" y="466344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XOR Cipher Logic</a:t>
            </a:r>
            <a:endParaRPr lang="en-US" sz="1200" dirty="0"/>
          </a:p>
        </p:txBody>
      </p:sp>
      <p:sp>
        <p:nvSpPr>
          <p:cNvPr id="28" name="Text 26"/>
          <p:cNvSpPr/>
          <p:nvPr/>
        </p:nvSpPr>
        <p:spPr>
          <a:xfrm>
            <a:off x="640080" y="507492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Custom symmetric encryption using a repeating-key byte-wise XOR operation.</a:t>
            </a:r>
            <a:endParaRPr lang="en-US" sz="950" dirty="0"/>
          </a:p>
        </p:txBody>
      </p:sp>
      <p:sp>
        <p:nvSpPr>
          <p:cNvPr id="29" name="Shape 27"/>
          <p:cNvSpPr/>
          <p:nvPr/>
        </p:nvSpPr>
        <p:spPr>
          <a:xfrm>
            <a:off x="3337560" y="3886200"/>
            <a:ext cx="2697480" cy="2194560"/>
          </a:xfrm>
          <a:prstGeom prst="roundRect">
            <a:avLst>
              <a:gd name="adj" fmla="val 3333"/>
            </a:avLst>
          </a:prstGeom>
          <a:solidFill>
            <a:srgbClr val="F4F7FC"/>
          </a:solidFill>
          <a:ln/>
        </p:spPr>
      </p:sp>
      <p:sp>
        <p:nvSpPr>
          <p:cNvPr id="30" name="Shape 28"/>
          <p:cNvSpPr/>
          <p:nvPr/>
        </p:nvSpPr>
        <p:spPr>
          <a:xfrm>
            <a:off x="3520440" y="4069080"/>
            <a:ext cx="502920" cy="502920"/>
          </a:xfrm>
          <a:prstGeom prst="ellipse">
            <a:avLst/>
          </a:prstGeom>
          <a:solidFill>
            <a:srgbClr val="13294B"/>
          </a:solidFill>
          <a:ln/>
        </p:spPr>
      </p:sp>
      <p:sp>
        <p:nvSpPr>
          <p:cNvPr id="31" name="Text 29"/>
          <p:cNvSpPr/>
          <p:nvPr/>
        </p:nvSpPr>
        <p:spPr>
          <a:xfrm>
            <a:off x="3520440" y="406908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RSA</a:t>
            </a:r>
            <a:endParaRPr lang="en-US" sz="950" dirty="0"/>
          </a:p>
        </p:txBody>
      </p:sp>
      <p:sp>
        <p:nvSpPr>
          <p:cNvPr id="32" name="Text 30"/>
          <p:cNvSpPr/>
          <p:nvPr/>
        </p:nvSpPr>
        <p:spPr>
          <a:xfrm>
            <a:off x="3520440" y="466344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RSA Key Math</a:t>
            </a:r>
            <a:endParaRPr lang="en-US" sz="1200" dirty="0"/>
          </a:p>
        </p:txBody>
      </p:sp>
      <p:sp>
        <p:nvSpPr>
          <p:cNvPr id="33" name="Text 31"/>
          <p:cNvSpPr/>
          <p:nvPr/>
        </p:nvSpPr>
        <p:spPr>
          <a:xfrm>
            <a:off x="3520440" y="507492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Manual public/private key generation from small prime numbers (p, q) to illustrate asymmetric cryptography.</a:t>
            </a:r>
            <a:endParaRPr lang="en-US" sz="950" dirty="0"/>
          </a:p>
        </p:txBody>
      </p:sp>
      <p:sp>
        <p:nvSpPr>
          <p:cNvPr id="34" name="Shape 32"/>
          <p:cNvSpPr/>
          <p:nvPr/>
        </p:nvSpPr>
        <p:spPr>
          <a:xfrm>
            <a:off x="6217920" y="3886200"/>
            <a:ext cx="2697480" cy="2194560"/>
          </a:xfrm>
          <a:prstGeom prst="roundRect">
            <a:avLst>
              <a:gd name="adj" fmla="val 3333"/>
            </a:avLst>
          </a:prstGeom>
          <a:solidFill>
            <a:srgbClr val="F4F7FC"/>
          </a:solidFill>
          <a:ln/>
        </p:spPr>
      </p:sp>
      <p:sp>
        <p:nvSpPr>
          <p:cNvPr id="35" name="Shape 33"/>
          <p:cNvSpPr/>
          <p:nvPr/>
        </p:nvSpPr>
        <p:spPr>
          <a:xfrm>
            <a:off x="6400800" y="4069080"/>
            <a:ext cx="502920" cy="502920"/>
          </a:xfrm>
          <a:prstGeom prst="ellipse">
            <a:avLst/>
          </a:prstGeom>
          <a:solidFill>
            <a:srgbClr val="13294B"/>
          </a:solidFill>
          <a:ln/>
        </p:spPr>
      </p:sp>
      <p:sp>
        <p:nvSpPr>
          <p:cNvPr id="36" name="Text 34"/>
          <p:cNvSpPr/>
          <p:nvPr/>
        </p:nvSpPr>
        <p:spPr>
          <a:xfrm>
            <a:off x="6400800" y="406908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p>
        </p:txBody>
      </p:sp>
      <p:sp>
        <p:nvSpPr>
          <p:cNvPr id="37" name="Text 35"/>
          <p:cNvSpPr/>
          <p:nvPr/>
        </p:nvSpPr>
        <p:spPr>
          <a:xfrm>
            <a:off x="6400800" y="466344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Hex Encoding</a:t>
            </a:r>
            <a:endParaRPr lang="en-US" sz="1200" dirty="0"/>
          </a:p>
        </p:txBody>
      </p:sp>
      <p:sp>
        <p:nvSpPr>
          <p:cNvPr id="38" name="Text 36"/>
          <p:cNvSpPr/>
          <p:nvPr/>
        </p:nvSpPr>
        <p:spPr>
          <a:xfrm>
            <a:off x="6400800" y="507492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Ciphertext is hex-encoded for safe, readable display and storage.</a:t>
            </a:r>
            <a:endParaRPr lang="en-US" sz="950" dirty="0"/>
          </a:p>
        </p:txBody>
      </p:sp>
      <p:sp>
        <p:nvSpPr>
          <p:cNvPr id="39" name="Shape 37"/>
          <p:cNvSpPr/>
          <p:nvPr/>
        </p:nvSpPr>
        <p:spPr>
          <a:xfrm>
            <a:off x="9098280" y="3886200"/>
            <a:ext cx="2697480" cy="2194560"/>
          </a:xfrm>
          <a:prstGeom prst="roundRect">
            <a:avLst>
              <a:gd name="adj" fmla="val 3333"/>
            </a:avLst>
          </a:prstGeom>
          <a:solidFill>
            <a:srgbClr val="F4F7FC"/>
          </a:solidFill>
          <a:ln/>
        </p:spPr>
      </p:sp>
      <p:sp>
        <p:nvSpPr>
          <p:cNvPr id="40" name="Shape 38"/>
          <p:cNvSpPr/>
          <p:nvPr/>
        </p:nvSpPr>
        <p:spPr>
          <a:xfrm>
            <a:off x="9281160" y="4069080"/>
            <a:ext cx="502920" cy="502920"/>
          </a:xfrm>
          <a:prstGeom prst="ellipse">
            <a:avLst/>
          </a:prstGeom>
          <a:solidFill>
            <a:srgbClr val="13294B"/>
          </a:solidFill>
          <a:ln/>
        </p:spPr>
      </p:sp>
      <p:sp>
        <p:nvSpPr>
          <p:cNvPr id="41" name="Text 39"/>
          <p:cNvSpPr/>
          <p:nvPr/>
        </p:nvSpPr>
        <p:spPr>
          <a:xfrm>
            <a:off x="9281160" y="4069080"/>
            <a:ext cx="50292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a:t>
            </a:r>
            <a:endParaRPr lang="en-US" sz="950" dirty="0"/>
          </a:p>
        </p:txBody>
      </p:sp>
      <p:sp>
        <p:nvSpPr>
          <p:cNvPr id="42" name="Text 40"/>
          <p:cNvSpPr/>
          <p:nvPr/>
        </p:nvSpPr>
        <p:spPr>
          <a:xfrm>
            <a:off x="9281160" y="4663440"/>
            <a:ext cx="2331720" cy="41148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Console / CLI Output</a:t>
            </a:r>
            <a:endParaRPr lang="en-US" sz="1200" dirty="0"/>
          </a:p>
        </p:txBody>
      </p:sp>
      <p:sp>
        <p:nvSpPr>
          <p:cNvPr id="43" name="Text 41"/>
          <p:cNvSpPr/>
          <p:nvPr/>
        </p:nvSpPr>
        <p:spPr>
          <a:xfrm>
            <a:off x="9281160" y="5074920"/>
            <a:ext cx="2331720" cy="9144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Both scripts run as standalone command-line programs with structured, labeled output.</a:t>
            </a:r>
            <a:endParaRPr lang="en-US" sz="950" dirty="0"/>
          </a:p>
        </p:txBody>
      </p:sp>
      <p:sp>
        <p:nvSpPr>
          <p:cNvPr id="44" name="Text 4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45" name="Text 4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End-to-End Project Workflow</a:t>
            </a:r>
            <a:endParaRPr lang="en-US" sz="2800" dirty="0"/>
          </a:p>
        </p:txBody>
      </p:sp>
      <p:sp>
        <p:nvSpPr>
          <p:cNvPr id="4" name="Shape 2"/>
          <p:cNvSpPr/>
          <p:nvPr/>
        </p:nvSpPr>
        <p:spPr>
          <a:xfrm>
            <a:off x="457200" y="1508760"/>
            <a:ext cx="2697480" cy="1737360"/>
          </a:xfrm>
          <a:prstGeom prst="roundRect">
            <a:avLst>
              <a:gd name="adj" fmla="val 4211"/>
            </a:avLst>
          </a:prstGeom>
          <a:solidFill>
            <a:srgbClr val="F4F7FC"/>
          </a:solidFill>
          <a:ln/>
        </p:spPr>
      </p:sp>
      <p:sp>
        <p:nvSpPr>
          <p:cNvPr id="5" name="Shape 3"/>
          <p:cNvSpPr/>
          <p:nvPr/>
        </p:nvSpPr>
        <p:spPr>
          <a:xfrm>
            <a:off x="640080" y="1691640"/>
            <a:ext cx="411480" cy="411480"/>
          </a:xfrm>
          <a:prstGeom prst="ellipse">
            <a:avLst/>
          </a:prstGeom>
          <a:solidFill>
            <a:srgbClr val="C97F3F"/>
          </a:solidFill>
          <a:ln/>
        </p:spPr>
      </p:sp>
      <p:sp>
        <p:nvSpPr>
          <p:cNvPr id="6" name="Text 4"/>
          <p:cNvSpPr/>
          <p:nvPr/>
        </p:nvSpPr>
        <p:spPr>
          <a:xfrm>
            <a:off x="64008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40080" y="216712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Script Setup</a:t>
            </a:r>
            <a:endParaRPr lang="en-US" sz="1200" dirty="0"/>
          </a:p>
        </p:txBody>
      </p:sp>
      <p:sp>
        <p:nvSpPr>
          <p:cNvPr id="8" name="Text 6"/>
          <p:cNvSpPr/>
          <p:nvPr/>
        </p:nvSpPr>
        <p:spPr>
          <a:xfrm>
            <a:off x="640080" y="249631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Defined helper functions for MAC formatting and struct-based header parsing.</a:t>
            </a:r>
            <a:endParaRPr lang="en-US" sz="950" dirty="0"/>
          </a:p>
        </p:txBody>
      </p:sp>
      <p:sp>
        <p:nvSpPr>
          <p:cNvPr id="9" name="Text 7"/>
          <p:cNvSpPr/>
          <p:nvPr/>
        </p:nvSpPr>
        <p:spPr>
          <a:xfrm>
            <a:off x="3163824" y="214884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37560" y="1508760"/>
            <a:ext cx="2697480" cy="1737360"/>
          </a:xfrm>
          <a:prstGeom prst="roundRect">
            <a:avLst>
              <a:gd name="adj" fmla="val 4211"/>
            </a:avLst>
          </a:prstGeom>
          <a:solidFill>
            <a:srgbClr val="F4F7FC"/>
          </a:solidFill>
          <a:ln/>
        </p:spPr>
      </p:sp>
      <p:sp>
        <p:nvSpPr>
          <p:cNvPr id="11" name="Shape 9"/>
          <p:cNvSpPr/>
          <p:nvPr/>
        </p:nvSpPr>
        <p:spPr>
          <a:xfrm>
            <a:off x="3520440" y="1691640"/>
            <a:ext cx="411480" cy="411480"/>
          </a:xfrm>
          <a:prstGeom prst="ellipse">
            <a:avLst/>
          </a:prstGeom>
          <a:solidFill>
            <a:srgbClr val="C97F3F"/>
          </a:solidFill>
          <a:ln/>
        </p:spPr>
      </p:sp>
      <p:sp>
        <p:nvSpPr>
          <p:cNvPr id="12" name="Text 10"/>
          <p:cNvSpPr/>
          <p:nvPr/>
        </p:nvSpPr>
        <p:spPr>
          <a:xfrm>
            <a:off x="352044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520440" y="216712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Frame Parsing</a:t>
            </a:r>
            <a:endParaRPr lang="en-US" sz="1200" dirty="0"/>
          </a:p>
        </p:txBody>
      </p:sp>
      <p:sp>
        <p:nvSpPr>
          <p:cNvPr id="14" name="Text 12"/>
          <p:cNvSpPr/>
          <p:nvPr/>
        </p:nvSpPr>
        <p:spPr>
          <a:xfrm>
            <a:off x="3520440" y="249631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Implemented parse_ethernet_frame() to unpack Ethernet header fields.</a:t>
            </a:r>
            <a:endParaRPr lang="en-US" sz="950" dirty="0"/>
          </a:p>
        </p:txBody>
      </p:sp>
      <p:sp>
        <p:nvSpPr>
          <p:cNvPr id="15" name="Text 13"/>
          <p:cNvSpPr/>
          <p:nvPr/>
        </p:nvSpPr>
        <p:spPr>
          <a:xfrm>
            <a:off x="6044184" y="214884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17920" y="1508760"/>
            <a:ext cx="2697480" cy="1737360"/>
          </a:xfrm>
          <a:prstGeom prst="roundRect">
            <a:avLst>
              <a:gd name="adj" fmla="val 4211"/>
            </a:avLst>
          </a:prstGeom>
          <a:solidFill>
            <a:srgbClr val="F4F7FC"/>
          </a:solidFill>
          <a:ln/>
        </p:spPr>
      </p:sp>
      <p:sp>
        <p:nvSpPr>
          <p:cNvPr id="17" name="Shape 15"/>
          <p:cNvSpPr/>
          <p:nvPr/>
        </p:nvSpPr>
        <p:spPr>
          <a:xfrm>
            <a:off x="6400800" y="1691640"/>
            <a:ext cx="411480" cy="411480"/>
          </a:xfrm>
          <a:prstGeom prst="ellipse">
            <a:avLst/>
          </a:prstGeom>
          <a:solidFill>
            <a:srgbClr val="C97F3F"/>
          </a:solidFill>
          <a:ln/>
        </p:spPr>
      </p:sp>
      <p:sp>
        <p:nvSpPr>
          <p:cNvPr id="18" name="Text 16"/>
          <p:cNvSpPr/>
          <p:nvPr/>
        </p:nvSpPr>
        <p:spPr>
          <a:xfrm>
            <a:off x="640080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400800" y="216712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Header Decoding</a:t>
            </a:r>
            <a:endParaRPr lang="en-US" sz="1200" dirty="0"/>
          </a:p>
        </p:txBody>
      </p:sp>
      <p:sp>
        <p:nvSpPr>
          <p:cNvPr id="20" name="Text 18"/>
          <p:cNvSpPr/>
          <p:nvPr/>
        </p:nvSpPr>
        <p:spPr>
          <a:xfrm>
            <a:off x="6400800" y="249631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Implemented parse_ip_header() to extract IPv4 fields via struct.unpack.</a:t>
            </a:r>
            <a:endParaRPr lang="en-US" sz="950" dirty="0"/>
          </a:p>
        </p:txBody>
      </p:sp>
      <p:sp>
        <p:nvSpPr>
          <p:cNvPr id="21" name="Text 19"/>
          <p:cNvSpPr/>
          <p:nvPr/>
        </p:nvSpPr>
        <p:spPr>
          <a:xfrm>
            <a:off x="8924544" y="214884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098280" y="1508760"/>
            <a:ext cx="2697480" cy="1737360"/>
          </a:xfrm>
          <a:prstGeom prst="roundRect">
            <a:avLst>
              <a:gd name="adj" fmla="val 4211"/>
            </a:avLst>
          </a:prstGeom>
          <a:solidFill>
            <a:srgbClr val="F4F7FC"/>
          </a:solidFill>
          <a:ln/>
        </p:spPr>
      </p:sp>
      <p:sp>
        <p:nvSpPr>
          <p:cNvPr id="23" name="Shape 21"/>
          <p:cNvSpPr/>
          <p:nvPr/>
        </p:nvSpPr>
        <p:spPr>
          <a:xfrm>
            <a:off x="9281160" y="1691640"/>
            <a:ext cx="411480" cy="411480"/>
          </a:xfrm>
          <a:prstGeom prst="ellipse">
            <a:avLst/>
          </a:prstGeom>
          <a:solidFill>
            <a:srgbClr val="C97F3F"/>
          </a:solidFill>
          <a:ln/>
        </p:spPr>
      </p:sp>
      <p:sp>
        <p:nvSpPr>
          <p:cNvPr id="24" name="Text 22"/>
          <p:cNvSpPr/>
          <p:nvPr/>
        </p:nvSpPr>
        <p:spPr>
          <a:xfrm>
            <a:off x="928116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281160" y="216712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Payload Inspection</a:t>
            </a:r>
            <a:endParaRPr lang="en-US" sz="1200" dirty="0"/>
          </a:p>
        </p:txBody>
      </p:sp>
      <p:sp>
        <p:nvSpPr>
          <p:cNvPr id="26" name="Text 24"/>
          <p:cNvSpPr/>
          <p:nvPr/>
        </p:nvSpPr>
        <p:spPr>
          <a:xfrm>
            <a:off x="9281160" y="249631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Built analyze_packet_payload() to flag plaintext HTTP indicators.</a:t>
            </a:r>
            <a:endParaRPr lang="en-US" sz="950" dirty="0"/>
          </a:p>
        </p:txBody>
      </p:sp>
      <p:sp>
        <p:nvSpPr>
          <p:cNvPr id="27" name="Shape 25"/>
          <p:cNvSpPr/>
          <p:nvPr/>
        </p:nvSpPr>
        <p:spPr>
          <a:xfrm>
            <a:off x="457200" y="3429000"/>
            <a:ext cx="2697480" cy="1737360"/>
          </a:xfrm>
          <a:prstGeom prst="roundRect">
            <a:avLst>
              <a:gd name="adj" fmla="val 4211"/>
            </a:avLst>
          </a:prstGeom>
          <a:solidFill>
            <a:srgbClr val="F4F7FC"/>
          </a:solidFill>
          <a:ln/>
        </p:spPr>
      </p:sp>
      <p:sp>
        <p:nvSpPr>
          <p:cNvPr id="28" name="Shape 26"/>
          <p:cNvSpPr/>
          <p:nvPr/>
        </p:nvSpPr>
        <p:spPr>
          <a:xfrm>
            <a:off x="640080" y="3611880"/>
            <a:ext cx="411480" cy="411480"/>
          </a:xfrm>
          <a:prstGeom prst="ellipse">
            <a:avLst/>
          </a:prstGeom>
          <a:solidFill>
            <a:srgbClr val="C97F3F"/>
          </a:solidFill>
          <a:ln/>
        </p:spPr>
      </p:sp>
      <p:sp>
        <p:nvSpPr>
          <p:cNvPr id="29" name="Text 27"/>
          <p:cNvSpPr/>
          <p:nvPr/>
        </p:nvSpPr>
        <p:spPr>
          <a:xfrm>
            <a:off x="640080" y="36118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640080" y="408736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Hash Function</a:t>
            </a:r>
            <a:endParaRPr lang="en-US" sz="1200" dirty="0"/>
          </a:p>
        </p:txBody>
      </p:sp>
      <p:sp>
        <p:nvSpPr>
          <p:cNvPr id="31" name="Text 29"/>
          <p:cNvSpPr/>
          <p:nvPr/>
        </p:nvSpPr>
        <p:spPr>
          <a:xfrm>
            <a:off x="640080" y="441655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Implemented generate_sha256_hash() using Python's hashlib.</a:t>
            </a:r>
            <a:endParaRPr lang="en-US" sz="950" dirty="0"/>
          </a:p>
        </p:txBody>
      </p:sp>
      <p:sp>
        <p:nvSpPr>
          <p:cNvPr id="32" name="Text 30"/>
          <p:cNvSpPr/>
          <p:nvPr/>
        </p:nvSpPr>
        <p:spPr>
          <a:xfrm>
            <a:off x="3163824" y="406908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3337560" y="3429000"/>
            <a:ext cx="2697480" cy="1737360"/>
          </a:xfrm>
          <a:prstGeom prst="roundRect">
            <a:avLst>
              <a:gd name="adj" fmla="val 4211"/>
            </a:avLst>
          </a:prstGeom>
          <a:solidFill>
            <a:srgbClr val="F4F7FC"/>
          </a:solidFill>
          <a:ln/>
        </p:spPr>
      </p:sp>
      <p:sp>
        <p:nvSpPr>
          <p:cNvPr id="34" name="Shape 32"/>
          <p:cNvSpPr/>
          <p:nvPr/>
        </p:nvSpPr>
        <p:spPr>
          <a:xfrm>
            <a:off x="3520440" y="3611880"/>
            <a:ext cx="411480" cy="411480"/>
          </a:xfrm>
          <a:prstGeom prst="ellipse">
            <a:avLst/>
          </a:prstGeom>
          <a:solidFill>
            <a:srgbClr val="C97F3F"/>
          </a:solidFill>
          <a:ln/>
        </p:spPr>
      </p:sp>
      <p:sp>
        <p:nvSpPr>
          <p:cNvPr id="35" name="Text 33"/>
          <p:cNvSpPr/>
          <p:nvPr/>
        </p:nvSpPr>
        <p:spPr>
          <a:xfrm>
            <a:off x="3520440" y="36118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4"/>
          <p:cNvSpPr/>
          <p:nvPr/>
        </p:nvSpPr>
        <p:spPr>
          <a:xfrm>
            <a:off x="3520440" y="408736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Cipher Logic</a:t>
            </a:r>
            <a:endParaRPr lang="en-US" sz="1200" dirty="0"/>
          </a:p>
        </p:txBody>
      </p:sp>
      <p:sp>
        <p:nvSpPr>
          <p:cNvPr id="37" name="Text 35"/>
          <p:cNvSpPr/>
          <p:nvPr/>
        </p:nvSpPr>
        <p:spPr>
          <a:xfrm>
            <a:off x="3520440" y="441655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Built matched XOR encrypt/decrypt functions with hex encoding.</a:t>
            </a:r>
            <a:endParaRPr lang="en-US" sz="950" dirty="0"/>
          </a:p>
        </p:txBody>
      </p:sp>
      <p:sp>
        <p:nvSpPr>
          <p:cNvPr id="38" name="Text 36"/>
          <p:cNvSpPr/>
          <p:nvPr/>
        </p:nvSpPr>
        <p:spPr>
          <a:xfrm>
            <a:off x="6044184" y="406908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39" name="Shape 37"/>
          <p:cNvSpPr/>
          <p:nvPr/>
        </p:nvSpPr>
        <p:spPr>
          <a:xfrm>
            <a:off x="6217920" y="3429000"/>
            <a:ext cx="2697480" cy="1737360"/>
          </a:xfrm>
          <a:prstGeom prst="roundRect">
            <a:avLst>
              <a:gd name="adj" fmla="val 4211"/>
            </a:avLst>
          </a:prstGeom>
          <a:solidFill>
            <a:srgbClr val="F4F7FC"/>
          </a:solidFill>
          <a:ln/>
        </p:spPr>
      </p:sp>
      <p:sp>
        <p:nvSpPr>
          <p:cNvPr id="40" name="Shape 38"/>
          <p:cNvSpPr/>
          <p:nvPr/>
        </p:nvSpPr>
        <p:spPr>
          <a:xfrm>
            <a:off x="6400800" y="3611880"/>
            <a:ext cx="411480" cy="411480"/>
          </a:xfrm>
          <a:prstGeom prst="ellipse">
            <a:avLst/>
          </a:prstGeom>
          <a:solidFill>
            <a:srgbClr val="C97F3F"/>
          </a:solidFill>
          <a:ln/>
        </p:spPr>
      </p:sp>
      <p:sp>
        <p:nvSpPr>
          <p:cNvPr id="41" name="Text 39"/>
          <p:cNvSpPr/>
          <p:nvPr/>
        </p:nvSpPr>
        <p:spPr>
          <a:xfrm>
            <a:off x="6400800" y="36118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2" name="Text 40"/>
          <p:cNvSpPr/>
          <p:nvPr/>
        </p:nvSpPr>
        <p:spPr>
          <a:xfrm>
            <a:off x="6400800" y="408736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RSA Simulation</a:t>
            </a:r>
            <a:endParaRPr lang="en-US" sz="1200" dirty="0"/>
          </a:p>
        </p:txBody>
      </p:sp>
      <p:sp>
        <p:nvSpPr>
          <p:cNvPr id="43" name="Text 41"/>
          <p:cNvSpPr/>
          <p:nvPr/>
        </p:nvSpPr>
        <p:spPr>
          <a:xfrm>
            <a:off x="6400800" y="441655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Computed a demo public/private key pair from small primes.</a:t>
            </a:r>
            <a:endParaRPr lang="en-US" sz="950" dirty="0"/>
          </a:p>
        </p:txBody>
      </p:sp>
      <p:sp>
        <p:nvSpPr>
          <p:cNvPr id="44" name="Text 42"/>
          <p:cNvSpPr/>
          <p:nvPr/>
        </p:nvSpPr>
        <p:spPr>
          <a:xfrm>
            <a:off x="8924544" y="4069080"/>
            <a:ext cx="173736" cy="365760"/>
          </a:xfrm>
          <a:prstGeom prst="rect">
            <a:avLst/>
          </a:prstGeom>
          <a:noFill/>
          <a:ln/>
        </p:spPr>
        <p:txBody>
          <a:bodyPr wrap="square" lIns="0" tIns="0" rIns="0" bIns="0" rtlCol="0" anchor="ctr"/>
          <a:lstStyle/>
          <a:p>
            <a:pPr algn="ctr" indent="0" marL="0">
              <a:buNone/>
            </a:pPr>
            <a:r>
              <a:rPr lang="en-US" sz="1600" b="1" dirty="0">
                <a:solidFill>
                  <a:srgbClr val="6E84A6"/>
                </a:solidFill>
                <a:latin typeface="Calibri" pitchFamily="34" charset="0"/>
                <a:ea typeface="Calibri" pitchFamily="34" charset="-122"/>
                <a:cs typeface="Calibri" pitchFamily="34" charset="-120"/>
              </a:rPr>
              <a:t>→</a:t>
            </a:r>
            <a:endParaRPr lang="en-US" sz="1600" dirty="0"/>
          </a:p>
        </p:txBody>
      </p:sp>
      <p:sp>
        <p:nvSpPr>
          <p:cNvPr id="45" name="Shape 43"/>
          <p:cNvSpPr/>
          <p:nvPr/>
        </p:nvSpPr>
        <p:spPr>
          <a:xfrm>
            <a:off x="9098280" y="3429000"/>
            <a:ext cx="2697480" cy="1737360"/>
          </a:xfrm>
          <a:prstGeom prst="roundRect">
            <a:avLst>
              <a:gd name="adj" fmla="val 4211"/>
            </a:avLst>
          </a:prstGeom>
          <a:solidFill>
            <a:srgbClr val="F4F7FC"/>
          </a:solidFill>
          <a:ln/>
        </p:spPr>
      </p:sp>
      <p:sp>
        <p:nvSpPr>
          <p:cNvPr id="46" name="Shape 44"/>
          <p:cNvSpPr/>
          <p:nvPr/>
        </p:nvSpPr>
        <p:spPr>
          <a:xfrm>
            <a:off x="9281160" y="3611880"/>
            <a:ext cx="411480" cy="411480"/>
          </a:xfrm>
          <a:prstGeom prst="ellipse">
            <a:avLst/>
          </a:prstGeom>
          <a:solidFill>
            <a:srgbClr val="C97F3F"/>
          </a:solidFill>
          <a:ln/>
        </p:spPr>
      </p:sp>
      <p:sp>
        <p:nvSpPr>
          <p:cNvPr id="47" name="Text 45"/>
          <p:cNvSpPr/>
          <p:nvPr/>
        </p:nvSpPr>
        <p:spPr>
          <a:xfrm>
            <a:off x="9281160" y="36118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8" name="Text 46"/>
          <p:cNvSpPr/>
          <p:nvPr/>
        </p:nvSpPr>
        <p:spPr>
          <a:xfrm>
            <a:off x="9281160" y="4087368"/>
            <a:ext cx="2331720" cy="36576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Testing &amp; Demo</a:t>
            </a:r>
            <a:endParaRPr lang="en-US" sz="1200" dirty="0"/>
          </a:p>
        </p:txBody>
      </p:sp>
      <p:sp>
        <p:nvSpPr>
          <p:cNvPr id="49" name="Text 47"/>
          <p:cNvSpPr/>
          <p:nvPr/>
        </p:nvSpPr>
        <p:spPr>
          <a:xfrm>
            <a:off x="9281160" y="4416552"/>
            <a:ext cx="2331720" cy="685800"/>
          </a:xfrm>
          <a:prstGeom prst="rect">
            <a:avLst/>
          </a:prstGeom>
          <a:noFill/>
          <a:ln/>
        </p:spPr>
        <p:txBody>
          <a:bodyPr wrap="square" lIns="0" tIns="0" rIns="0" bIns="0" rtlCol="0" anchor="ctr"/>
          <a:lstStyle/>
          <a:p>
            <a:pPr indent="0" marL="0">
              <a:lnSpc>
                <a:spcPct val="115000"/>
              </a:lnSpc>
              <a:buNone/>
            </a:pPr>
            <a:r>
              <a:rPr lang="en-US" sz="950" dirty="0">
                <a:solidFill>
                  <a:srgbClr val="6E84A6"/>
                </a:solidFill>
                <a:latin typeface="Calibri" pitchFamily="34" charset="0"/>
                <a:ea typeface="Calibri" pitchFamily="34" charset="-122"/>
                <a:cs typeface="Calibri" pitchFamily="34" charset="-120"/>
              </a:rPr>
              <a:t>Ran both scripts end-to-end and verified console output matched expectations.</a:t>
            </a:r>
            <a:endParaRPr lang="en-US" sz="950" dirty="0"/>
          </a:p>
        </p:txBody>
      </p:sp>
      <p:sp>
        <p:nvSpPr>
          <p:cNvPr id="50" name="Text 48"/>
          <p:cNvSpPr/>
          <p:nvPr/>
        </p:nvSpPr>
        <p:spPr>
          <a:xfrm>
            <a:off x="457200" y="5349240"/>
            <a:ext cx="10972800" cy="320040"/>
          </a:xfrm>
          <a:prstGeom prst="rect">
            <a:avLst/>
          </a:prstGeom>
          <a:noFill/>
          <a:ln/>
        </p:spPr>
        <p:txBody>
          <a:bodyPr wrap="square" lIns="0" tIns="0" rIns="0" bIns="0" rtlCol="0" anchor="ctr"/>
          <a:lstStyle/>
          <a:p>
            <a:pPr indent="0" marL="0">
              <a:buNone/>
            </a:pPr>
            <a:r>
              <a:rPr lang="en-US" sz="1100" i="1" dirty="0">
                <a:solidFill>
                  <a:srgbClr val="6E84A6"/>
                </a:solidFill>
                <a:latin typeface="Calibri" pitchFamily="34" charset="0"/>
                <a:ea typeface="Calibri" pitchFamily="34" charset="-122"/>
                <a:cs typeface="Calibri" pitchFamily="34" charset="-120"/>
              </a:rPr>
              <a:t>Steps 1–4: Network Analyzer   |   Steps 5–8: Cryptography Engine</a:t>
            </a:r>
            <a:endParaRPr lang="en-US" sz="1100" dirty="0"/>
          </a:p>
        </p:txBody>
      </p:sp>
      <p:sp>
        <p:nvSpPr>
          <p:cNvPr id="51" name="Text 49"/>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52" name="Text 50"/>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LEARNING OUTCOMES</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Skills &amp; Understanding Gained</a:t>
            </a:r>
            <a:endParaRPr lang="en-US" sz="2800" dirty="0"/>
          </a:p>
        </p:txBody>
      </p:sp>
      <p:sp>
        <p:nvSpPr>
          <p:cNvPr id="4" name="Shape 2"/>
          <p:cNvSpPr/>
          <p:nvPr/>
        </p:nvSpPr>
        <p:spPr>
          <a:xfrm>
            <a:off x="457200" y="1600200"/>
            <a:ext cx="5394960" cy="4206240"/>
          </a:xfrm>
          <a:prstGeom prst="roundRect">
            <a:avLst>
              <a:gd name="adj" fmla="val 1739"/>
            </a:avLst>
          </a:prstGeom>
          <a:solidFill>
            <a:srgbClr val="F4F7FC"/>
          </a:solidFill>
          <a:ln/>
        </p:spPr>
      </p:sp>
      <p:sp>
        <p:nvSpPr>
          <p:cNvPr id="5" name="Text 3"/>
          <p:cNvSpPr/>
          <p:nvPr/>
        </p:nvSpPr>
        <p:spPr>
          <a:xfrm>
            <a:off x="731520" y="1828800"/>
            <a:ext cx="4846320"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From Task 1: Network Analysis</a:t>
            </a:r>
            <a:endParaRPr lang="en-US" sz="1350" dirty="0"/>
          </a:p>
        </p:txBody>
      </p:sp>
      <p:sp>
        <p:nvSpPr>
          <p:cNvPr id="6" name="Text 4"/>
          <p:cNvSpPr/>
          <p:nvPr/>
        </p:nvSpPr>
        <p:spPr>
          <a:xfrm>
            <a:off x="731520" y="2331720"/>
            <a:ext cx="4846320" cy="32004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200" dirty="0">
                <a:solidFill>
                  <a:srgbClr val="6E84A6"/>
                </a:solidFill>
                <a:latin typeface="Calibri" pitchFamily="34" charset="0"/>
                <a:ea typeface="Calibri" pitchFamily="34" charset="-122"/>
                <a:cs typeface="Calibri" pitchFamily="34" charset="-120"/>
              </a:rPr>
              <a:t>Practical experience unpacking binary network data with Python's struct module.</a:t>
            </a:r>
            <a:endParaRPr lang="en-US" sz="1200" dirty="0"/>
          </a:p>
          <a:p>
            <a:pPr marL="342900" indent="-342900">
              <a:lnSpc>
                <a:spcPct val="115000"/>
              </a:lnSpc>
              <a:spcAft>
                <a:spcPts val="1200"/>
              </a:spcAft>
              <a:buSzPct val="100000"/>
              <a:buChar char="•"/>
            </a:pPr>
            <a:r>
              <a:rPr lang="en-US" sz="1200" dirty="0">
                <a:solidFill>
                  <a:srgbClr val="6E84A6"/>
                </a:solidFill>
                <a:latin typeface="Calibri" pitchFamily="34" charset="0"/>
                <a:ea typeface="Calibri" pitchFamily="34" charset="-122"/>
                <a:cs typeface="Calibri" pitchFamily="34" charset="-120"/>
              </a:rPr>
              <a:t>Understood the structure of Ethernet frames and IPv4 headers, including byte-order handling.</a:t>
            </a:r>
            <a:endParaRPr lang="en-US" sz="1200" dirty="0"/>
          </a:p>
          <a:p>
            <a:pPr marL="342900" indent="-342900">
              <a:lnSpc>
                <a:spcPct val="115000"/>
              </a:lnSpc>
              <a:spcAft>
                <a:spcPts val="1200"/>
              </a:spcAft>
              <a:buSzPct val="100000"/>
              <a:buChar char="•"/>
            </a:pPr>
            <a:r>
              <a:rPr lang="en-US" sz="1200" dirty="0">
                <a:solidFill>
                  <a:srgbClr val="6E84A6"/>
                </a:solidFill>
                <a:latin typeface="Calibri" pitchFamily="34" charset="0"/>
                <a:ea typeface="Calibri" pitchFamily="34" charset="-122"/>
                <a:cs typeface="Calibri" pitchFamily="34" charset="-120"/>
              </a:rPr>
              <a:t>Learned a simple, effective heuristic for spotting unencrypted HTTP traffic.</a:t>
            </a:r>
            <a:endParaRPr lang="en-US" sz="1200" dirty="0"/>
          </a:p>
          <a:p>
            <a:pPr marL="342900" indent="-342900">
              <a:lnSpc>
                <a:spcPct val="115000"/>
              </a:lnSpc>
              <a:spcAft>
                <a:spcPts val="1200"/>
              </a:spcAft>
              <a:buSzPct val="100000"/>
              <a:buChar char="•"/>
            </a:pPr>
            <a:r>
              <a:rPr lang="en-US" sz="1200" dirty="0">
                <a:solidFill>
                  <a:srgbClr val="6E84A6"/>
                </a:solidFill>
                <a:latin typeface="Calibri" pitchFamily="34" charset="0"/>
                <a:ea typeface="Calibri" pitchFamily="34" charset="-122"/>
                <a:cs typeface="Calibri" pitchFamily="34" charset="-120"/>
              </a:rPr>
              <a:t>Recognized the limits of keyword-based detection versus real deep packet inspection.</a:t>
            </a:r>
            <a:endParaRPr lang="en-US" sz="1200" dirty="0"/>
          </a:p>
        </p:txBody>
      </p:sp>
      <p:sp>
        <p:nvSpPr>
          <p:cNvPr id="7" name="Shape 5"/>
          <p:cNvSpPr/>
          <p:nvPr/>
        </p:nvSpPr>
        <p:spPr>
          <a:xfrm>
            <a:off x="6217920" y="1600200"/>
            <a:ext cx="5394960" cy="4206240"/>
          </a:xfrm>
          <a:prstGeom prst="roundRect">
            <a:avLst>
              <a:gd name="adj" fmla="val 1739"/>
            </a:avLst>
          </a:prstGeom>
          <a:solidFill>
            <a:srgbClr val="13294B"/>
          </a:solidFill>
          <a:ln/>
        </p:spPr>
      </p:sp>
      <p:sp>
        <p:nvSpPr>
          <p:cNvPr id="8" name="Text 6"/>
          <p:cNvSpPr/>
          <p:nvPr/>
        </p:nvSpPr>
        <p:spPr>
          <a:xfrm>
            <a:off x="6492240" y="1828800"/>
            <a:ext cx="484632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From Task 2: Cryptography</a:t>
            </a:r>
            <a:endParaRPr lang="en-US" sz="1350" dirty="0"/>
          </a:p>
        </p:txBody>
      </p:sp>
      <p:sp>
        <p:nvSpPr>
          <p:cNvPr id="9" name="Text 7"/>
          <p:cNvSpPr/>
          <p:nvPr/>
        </p:nvSpPr>
        <p:spPr>
          <a:xfrm>
            <a:off x="6492240" y="2331720"/>
            <a:ext cx="4846320" cy="32004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Implemented SHA-256 hashing and understood its role in integrity verification.</a:t>
            </a:r>
            <a:endParaRPr lang="en-US" sz="1200" dirty="0"/>
          </a:p>
          <a:p>
            <a:pPr marL="342900" indent="-342900">
              <a:lnSpc>
                <a:spcPct val="115000"/>
              </a:lnSpc>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Built a working symmetric cipher and confirmed correct encrypt/decrypt round-trips.</a:t>
            </a:r>
            <a:endParaRPr lang="en-US" sz="1200" dirty="0"/>
          </a:p>
          <a:p>
            <a:pPr marL="342900" indent="-342900">
              <a:lnSpc>
                <a:spcPct val="115000"/>
              </a:lnSpc>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Gained a working intuition for RSA's public/private key structure from small primes.</a:t>
            </a:r>
            <a:endParaRPr lang="en-US" sz="1200" dirty="0"/>
          </a:p>
          <a:p>
            <a:pPr marL="342900" indent="-342900">
              <a:lnSpc>
                <a:spcPct val="115000"/>
              </a:lnSpc>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Practiced presenting cryptographic output clearly for review and testing.</a:t>
            </a:r>
            <a:endParaRPr lang="en-US" sz="1200" dirty="0"/>
          </a:p>
        </p:txBody>
      </p:sp>
      <p:sp>
        <p:nvSpPr>
          <p:cNvPr id="10" name="Text 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11" name="Text 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LIMITATIONS &amp; FUTURE WORK</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Where These Tools Stop — and Could Grow</a:t>
            </a:r>
            <a:endParaRPr lang="en-US" sz="2800" dirty="0"/>
          </a:p>
        </p:txBody>
      </p:sp>
      <p:sp>
        <p:nvSpPr>
          <p:cNvPr id="4" name="Shape 2"/>
          <p:cNvSpPr/>
          <p:nvPr/>
        </p:nvSpPr>
        <p:spPr>
          <a:xfrm>
            <a:off x="457200" y="1600200"/>
            <a:ext cx="5394960" cy="4206240"/>
          </a:xfrm>
          <a:prstGeom prst="roundRect">
            <a:avLst>
              <a:gd name="adj" fmla="val 1739"/>
            </a:avLst>
          </a:prstGeom>
          <a:solidFill>
            <a:srgbClr val="F4F7FC"/>
          </a:solidFill>
          <a:ln/>
        </p:spPr>
      </p:sp>
      <p:sp>
        <p:nvSpPr>
          <p:cNvPr id="5" name="Text 3"/>
          <p:cNvSpPr/>
          <p:nvPr/>
        </p:nvSpPr>
        <p:spPr>
          <a:xfrm>
            <a:off x="731520" y="1828800"/>
            <a:ext cx="4846320"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Current Limitations</a:t>
            </a:r>
            <a:endParaRPr lang="en-US" sz="1350" dirty="0"/>
          </a:p>
        </p:txBody>
      </p:sp>
      <p:sp>
        <p:nvSpPr>
          <p:cNvPr id="6" name="Text 4"/>
          <p:cNvSpPr/>
          <p:nvPr/>
        </p:nvSpPr>
        <p:spPr>
          <a:xfrm>
            <a:off x="731520" y="2331720"/>
            <a:ext cx="4846320" cy="320040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200" dirty="0">
                <a:solidFill>
                  <a:srgbClr val="6E84A6"/>
                </a:solidFill>
                <a:latin typeface="Calibri" pitchFamily="34" charset="0"/>
                <a:ea typeface="Calibri" pitchFamily="34" charset="-122"/>
                <a:cs typeface="Calibri" pitchFamily="34" charset="-120"/>
              </a:rPr>
              <a:t>Works on one hardcoded sample packet, not live captured traffic (no raw sockets/pcap).</a:t>
            </a:r>
            <a:endParaRPr lang="en-US" sz="1200" dirty="0"/>
          </a:p>
          <a:p>
            <a:pPr marL="342900" indent="-342900">
              <a:lnSpc>
                <a:spcPct val="120000"/>
              </a:lnSpc>
              <a:spcAft>
                <a:spcPts val="1400"/>
              </a:spcAft>
              <a:buSzPct val="100000"/>
              <a:buChar char="•"/>
            </a:pPr>
            <a:r>
              <a:rPr lang="en-US" sz="1200" dirty="0">
                <a:solidFill>
                  <a:srgbClr val="6E84A6"/>
                </a:solidFill>
                <a:latin typeface="Calibri" pitchFamily="34" charset="0"/>
                <a:ea typeface="Calibri" pitchFamily="34" charset="-122"/>
                <a:cs typeface="Calibri" pitchFamily="34" charset="-120"/>
              </a:rPr>
              <a:t>Detection relies on plain keyword matching, not full protocol/deep packet inspection.</a:t>
            </a:r>
            <a:endParaRPr lang="en-US" sz="1200" dirty="0"/>
          </a:p>
          <a:p>
            <a:pPr marL="342900" indent="-342900">
              <a:lnSpc>
                <a:spcPct val="120000"/>
              </a:lnSpc>
              <a:spcAft>
                <a:spcPts val="1400"/>
              </a:spcAft>
              <a:buSzPct val="100000"/>
              <a:buChar char="•"/>
            </a:pPr>
            <a:r>
              <a:rPr lang="en-US" sz="1200" dirty="0">
                <a:solidFill>
                  <a:srgbClr val="6E84A6"/>
                </a:solidFill>
                <a:latin typeface="Calibri" pitchFamily="34" charset="0"/>
                <a:ea typeface="Calibri" pitchFamily="34" charset="-122"/>
                <a:cs typeface="Calibri" pitchFamily="34" charset="-120"/>
              </a:rPr>
              <a:t>XOR cipher is for learning only — not secure against real cryptanalysis.</a:t>
            </a:r>
            <a:endParaRPr lang="en-US" sz="1200" dirty="0"/>
          </a:p>
          <a:p>
            <a:pPr marL="342900" indent="-342900">
              <a:lnSpc>
                <a:spcPct val="120000"/>
              </a:lnSpc>
              <a:spcAft>
                <a:spcPts val="1400"/>
              </a:spcAft>
              <a:buSzPct val="100000"/>
              <a:buChar char="•"/>
            </a:pPr>
            <a:r>
              <a:rPr lang="en-US" sz="1200" dirty="0">
                <a:solidFill>
                  <a:srgbClr val="6E84A6"/>
                </a:solidFill>
                <a:latin typeface="Calibri" pitchFamily="34" charset="0"/>
                <a:ea typeface="Calibri" pitchFamily="34" charset="-122"/>
                <a:cs typeface="Calibri" pitchFamily="34" charset="-120"/>
              </a:rPr>
              <a:t>RSA simulation uses small demo primes, unsuitable for real-world key sizes.</a:t>
            </a:r>
            <a:endParaRPr lang="en-US" sz="1200" dirty="0"/>
          </a:p>
        </p:txBody>
      </p:sp>
      <p:sp>
        <p:nvSpPr>
          <p:cNvPr id="7" name="Shape 5"/>
          <p:cNvSpPr/>
          <p:nvPr/>
        </p:nvSpPr>
        <p:spPr>
          <a:xfrm>
            <a:off x="6217920" y="1600200"/>
            <a:ext cx="5394960" cy="4206240"/>
          </a:xfrm>
          <a:prstGeom prst="roundRect">
            <a:avLst>
              <a:gd name="adj" fmla="val 1739"/>
            </a:avLst>
          </a:prstGeom>
          <a:solidFill>
            <a:srgbClr val="FBEBDD"/>
          </a:solidFill>
          <a:ln/>
        </p:spPr>
      </p:sp>
      <p:sp>
        <p:nvSpPr>
          <p:cNvPr id="8" name="Text 6"/>
          <p:cNvSpPr/>
          <p:nvPr/>
        </p:nvSpPr>
        <p:spPr>
          <a:xfrm>
            <a:off x="6492240" y="1828800"/>
            <a:ext cx="4846320" cy="365760"/>
          </a:xfrm>
          <a:prstGeom prst="rect">
            <a:avLst/>
          </a:prstGeom>
          <a:noFill/>
          <a:ln/>
        </p:spPr>
        <p:txBody>
          <a:bodyPr wrap="square" lIns="0" tIns="0" rIns="0" bIns="0" rtlCol="0" anchor="ctr"/>
          <a:lstStyle/>
          <a:p>
            <a:pPr indent="0" marL="0">
              <a:buNone/>
            </a:pPr>
            <a:r>
              <a:rPr lang="en-US" sz="1350" b="1" dirty="0">
                <a:solidFill>
                  <a:srgbClr val="13294B"/>
                </a:solidFill>
                <a:latin typeface="Calibri" pitchFamily="34" charset="0"/>
                <a:ea typeface="Calibri" pitchFamily="34" charset="-122"/>
                <a:cs typeface="Calibri" pitchFamily="34" charset="-120"/>
              </a:rPr>
              <a:t>Future Improvements</a:t>
            </a:r>
            <a:endParaRPr lang="en-US" sz="1350" dirty="0"/>
          </a:p>
        </p:txBody>
      </p:sp>
      <p:sp>
        <p:nvSpPr>
          <p:cNvPr id="9" name="Text 7"/>
          <p:cNvSpPr/>
          <p:nvPr/>
        </p:nvSpPr>
        <p:spPr>
          <a:xfrm>
            <a:off x="6492240" y="2331720"/>
            <a:ext cx="4846320" cy="320040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200" dirty="0">
                <a:solidFill>
                  <a:srgbClr val="13294B"/>
                </a:solidFill>
                <a:latin typeface="Calibri" pitchFamily="34" charset="0"/>
                <a:ea typeface="Calibri" pitchFamily="34" charset="-122"/>
                <a:cs typeface="Calibri" pitchFamily="34" charset="-120"/>
              </a:rPr>
              <a:t>Integrate with a live capture library (e.g. scapy) for real-time traffic analysis.</a:t>
            </a:r>
            <a:endParaRPr lang="en-US" sz="1200" dirty="0"/>
          </a:p>
          <a:p>
            <a:pPr marL="342900" indent="-342900">
              <a:lnSpc>
                <a:spcPct val="120000"/>
              </a:lnSpc>
              <a:spcAft>
                <a:spcPts val="1400"/>
              </a:spcAft>
              <a:buSzPct val="100000"/>
              <a:buChar char="•"/>
            </a:pPr>
            <a:r>
              <a:rPr lang="en-US" sz="1200" dirty="0">
                <a:solidFill>
                  <a:srgbClr val="13294B"/>
                </a:solidFill>
                <a:latin typeface="Calibri" pitchFamily="34" charset="0"/>
                <a:ea typeface="Calibri" pitchFamily="34" charset="-122"/>
                <a:cs typeface="Calibri" pitchFamily="34" charset="-120"/>
              </a:rPr>
              <a:t>Add TLS/HTTPS-aware detection to flag more subtle exposure risks.</a:t>
            </a:r>
            <a:endParaRPr lang="en-US" sz="1200" dirty="0"/>
          </a:p>
          <a:p>
            <a:pPr marL="342900" indent="-342900">
              <a:lnSpc>
                <a:spcPct val="120000"/>
              </a:lnSpc>
              <a:spcAft>
                <a:spcPts val="1400"/>
              </a:spcAft>
              <a:buSzPct val="100000"/>
              <a:buChar char="•"/>
            </a:pPr>
            <a:r>
              <a:rPr lang="en-US" sz="1200" dirty="0">
                <a:solidFill>
                  <a:srgbClr val="13294B"/>
                </a:solidFill>
                <a:latin typeface="Calibri" pitchFamily="34" charset="0"/>
                <a:ea typeface="Calibri" pitchFamily="34" charset="-122"/>
                <a:cs typeface="Calibri" pitchFamily="34" charset="-120"/>
              </a:rPr>
              <a:t>Replace the XOR cipher with an industry-standard algorithm such as AES.</a:t>
            </a:r>
            <a:endParaRPr lang="en-US" sz="1200" dirty="0"/>
          </a:p>
          <a:p>
            <a:pPr marL="342900" indent="-342900">
              <a:lnSpc>
                <a:spcPct val="120000"/>
              </a:lnSpc>
              <a:spcAft>
                <a:spcPts val="1400"/>
              </a:spcAft>
              <a:buSzPct val="100000"/>
              <a:buChar char="•"/>
            </a:pPr>
            <a:r>
              <a:rPr lang="en-US" sz="1200" dirty="0">
                <a:solidFill>
                  <a:srgbClr val="13294B"/>
                </a:solidFill>
                <a:latin typeface="Calibri" pitchFamily="34" charset="0"/>
                <a:ea typeface="Calibri" pitchFamily="34" charset="-122"/>
                <a:cs typeface="Calibri" pitchFamily="34" charset="-120"/>
              </a:rPr>
              <a:t>Use proper large-prime RSA key generation via a vetted cryptography library.</a:t>
            </a:r>
            <a:endParaRPr lang="en-US" sz="1200" dirty="0"/>
          </a:p>
        </p:txBody>
      </p:sp>
      <p:sp>
        <p:nvSpPr>
          <p:cNvPr id="10" name="Text 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11" name="Text 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DOCUMENTATION</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Project Deliverables</a:t>
            </a:r>
            <a:endParaRPr lang="en-US" sz="2800" dirty="0"/>
          </a:p>
        </p:txBody>
      </p:sp>
      <p:sp>
        <p:nvSpPr>
          <p:cNvPr id="4" name="Shape 2"/>
          <p:cNvSpPr/>
          <p:nvPr/>
        </p:nvSpPr>
        <p:spPr>
          <a:xfrm>
            <a:off x="457200" y="1463040"/>
            <a:ext cx="5394960" cy="1280160"/>
          </a:xfrm>
          <a:prstGeom prst="roundRect">
            <a:avLst>
              <a:gd name="adj" fmla="val 5714"/>
            </a:avLst>
          </a:prstGeom>
          <a:solidFill>
            <a:srgbClr val="F4F7FC"/>
          </a:solidFill>
          <a:ln/>
        </p:spPr>
      </p:sp>
      <p:sp>
        <p:nvSpPr>
          <p:cNvPr id="5" name="Shape 3"/>
          <p:cNvSpPr/>
          <p:nvPr/>
        </p:nvSpPr>
        <p:spPr>
          <a:xfrm>
            <a:off x="685800" y="1737360"/>
            <a:ext cx="457200" cy="457200"/>
          </a:xfrm>
          <a:prstGeom prst="ellipse">
            <a:avLst/>
          </a:prstGeom>
          <a:solidFill>
            <a:srgbClr val="13294B"/>
          </a:solidFill>
          <a:ln/>
        </p:spPr>
      </p:sp>
      <p:sp>
        <p:nvSpPr>
          <p:cNvPr id="6" name="Text 4"/>
          <p:cNvSpPr/>
          <p:nvPr/>
        </p:nvSpPr>
        <p:spPr>
          <a:xfrm>
            <a:off x="685800"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645920"/>
            <a:ext cx="4297680" cy="36576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network_analyzer.py</a:t>
            </a:r>
            <a:endParaRPr lang="en-US" sz="1400" dirty="0"/>
          </a:p>
        </p:txBody>
      </p:sp>
      <p:sp>
        <p:nvSpPr>
          <p:cNvPr id="8" name="Text 6"/>
          <p:cNvSpPr/>
          <p:nvPr/>
        </p:nvSpPr>
        <p:spPr>
          <a:xfrm>
            <a:off x="1325880" y="2011680"/>
            <a:ext cx="4297680" cy="731520"/>
          </a:xfrm>
          <a:prstGeom prst="rect">
            <a:avLst/>
          </a:prstGeom>
          <a:noFill/>
          <a:ln/>
        </p:spPr>
        <p:txBody>
          <a:bodyPr wrap="square" lIns="0" tIns="0" rIns="0" bIns="0" rtlCol="0" anchor="ctr"/>
          <a:lstStyle/>
          <a:p>
            <a:pPr indent="0" marL="0">
              <a:lnSpc>
                <a:spcPct val="115000"/>
              </a:lnSpc>
              <a:buNone/>
            </a:pPr>
            <a:r>
              <a:rPr lang="en-US" sz="1050" dirty="0">
                <a:solidFill>
                  <a:srgbClr val="6E84A6"/>
                </a:solidFill>
                <a:latin typeface="Calibri" pitchFamily="34" charset="0"/>
                <a:ea typeface="Calibri" pitchFamily="34" charset="-122"/>
                <a:cs typeface="Calibri" pitchFamily="34" charset="-120"/>
              </a:rPr>
              <a:t>Complete Ethernet/IPv4 packet parser with plaintext-traffic detection.</a:t>
            </a:r>
            <a:endParaRPr lang="en-US" sz="1050" dirty="0"/>
          </a:p>
        </p:txBody>
      </p:sp>
      <p:sp>
        <p:nvSpPr>
          <p:cNvPr id="9" name="Shape 7"/>
          <p:cNvSpPr/>
          <p:nvPr/>
        </p:nvSpPr>
        <p:spPr>
          <a:xfrm>
            <a:off x="6217920" y="1463040"/>
            <a:ext cx="5394960" cy="1280160"/>
          </a:xfrm>
          <a:prstGeom prst="roundRect">
            <a:avLst>
              <a:gd name="adj" fmla="val 5714"/>
            </a:avLst>
          </a:prstGeom>
          <a:solidFill>
            <a:srgbClr val="F4F7FC"/>
          </a:solidFill>
          <a:ln/>
        </p:spPr>
      </p:sp>
      <p:sp>
        <p:nvSpPr>
          <p:cNvPr id="10" name="Shape 8"/>
          <p:cNvSpPr/>
          <p:nvPr/>
        </p:nvSpPr>
        <p:spPr>
          <a:xfrm>
            <a:off x="6446520" y="1737360"/>
            <a:ext cx="457200" cy="457200"/>
          </a:xfrm>
          <a:prstGeom prst="ellipse">
            <a:avLst/>
          </a:prstGeom>
          <a:solidFill>
            <a:srgbClr val="13294B"/>
          </a:solidFill>
          <a:ln/>
        </p:spPr>
      </p:sp>
      <p:sp>
        <p:nvSpPr>
          <p:cNvPr id="11" name="Text 9"/>
          <p:cNvSpPr/>
          <p:nvPr/>
        </p:nvSpPr>
        <p:spPr>
          <a:xfrm>
            <a:off x="6446520"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86600" y="1645920"/>
            <a:ext cx="4297680" cy="36576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crypto_implementation.py</a:t>
            </a:r>
            <a:endParaRPr lang="en-US" sz="1400" dirty="0"/>
          </a:p>
        </p:txBody>
      </p:sp>
      <p:sp>
        <p:nvSpPr>
          <p:cNvPr id="13" name="Text 11"/>
          <p:cNvSpPr/>
          <p:nvPr/>
        </p:nvSpPr>
        <p:spPr>
          <a:xfrm>
            <a:off x="7086600" y="2011680"/>
            <a:ext cx="4297680" cy="731520"/>
          </a:xfrm>
          <a:prstGeom prst="rect">
            <a:avLst/>
          </a:prstGeom>
          <a:noFill/>
          <a:ln/>
        </p:spPr>
        <p:txBody>
          <a:bodyPr wrap="square" lIns="0" tIns="0" rIns="0" bIns="0" rtlCol="0" anchor="ctr"/>
          <a:lstStyle/>
          <a:p>
            <a:pPr indent="0" marL="0">
              <a:lnSpc>
                <a:spcPct val="115000"/>
              </a:lnSpc>
              <a:buNone/>
            </a:pPr>
            <a:r>
              <a:rPr lang="en-US" sz="1050" dirty="0">
                <a:solidFill>
                  <a:srgbClr val="6E84A6"/>
                </a:solidFill>
                <a:latin typeface="Calibri" pitchFamily="34" charset="0"/>
                <a:ea typeface="Calibri" pitchFamily="34" charset="-122"/>
                <a:cs typeface="Calibri" pitchFamily="34" charset="-120"/>
              </a:rPr>
              <a:t>SHA-256 hashing, XOR symmetric cipher, and RSA key simulation demo.</a:t>
            </a:r>
            <a:endParaRPr lang="en-US" sz="1050" dirty="0"/>
          </a:p>
        </p:txBody>
      </p:sp>
      <p:sp>
        <p:nvSpPr>
          <p:cNvPr id="14" name="Shape 12"/>
          <p:cNvSpPr/>
          <p:nvPr/>
        </p:nvSpPr>
        <p:spPr>
          <a:xfrm>
            <a:off x="457200" y="2926080"/>
            <a:ext cx="5394960" cy="1280160"/>
          </a:xfrm>
          <a:prstGeom prst="roundRect">
            <a:avLst>
              <a:gd name="adj" fmla="val 5714"/>
            </a:avLst>
          </a:prstGeom>
          <a:solidFill>
            <a:srgbClr val="F4F7FC"/>
          </a:solidFill>
          <a:ln/>
        </p:spPr>
      </p:sp>
      <p:sp>
        <p:nvSpPr>
          <p:cNvPr id="15" name="Shape 13"/>
          <p:cNvSpPr/>
          <p:nvPr/>
        </p:nvSpPr>
        <p:spPr>
          <a:xfrm>
            <a:off x="685800" y="3200400"/>
            <a:ext cx="457200" cy="457200"/>
          </a:xfrm>
          <a:prstGeom prst="ellipse">
            <a:avLst/>
          </a:prstGeom>
          <a:solidFill>
            <a:srgbClr val="13294B"/>
          </a:solidFill>
          <a:ln/>
        </p:spPr>
      </p:sp>
      <p:sp>
        <p:nvSpPr>
          <p:cNvPr id="16" name="Text 14"/>
          <p:cNvSpPr/>
          <p:nvPr/>
        </p:nvSpPr>
        <p:spPr>
          <a:xfrm>
            <a:off x="685800" y="3200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108960"/>
            <a:ext cx="4297680" cy="36576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Internship Offer Letter</a:t>
            </a:r>
            <a:endParaRPr lang="en-US" sz="1400" dirty="0"/>
          </a:p>
        </p:txBody>
      </p:sp>
      <p:sp>
        <p:nvSpPr>
          <p:cNvPr id="18" name="Text 16"/>
          <p:cNvSpPr/>
          <p:nvPr/>
        </p:nvSpPr>
        <p:spPr>
          <a:xfrm>
            <a:off x="1325880" y="3474720"/>
            <a:ext cx="4297680" cy="731520"/>
          </a:xfrm>
          <a:prstGeom prst="rect">
            <a:avLst/>
          </a:prstGeom>
          <a:noFill/>
          <a:ln/>
        </p:spPr>
        <p:txBody>
          <a:bodyPr wrap="square" lIns="0" tIns="0" rIns="0" bIns="0" rtlCol="0" anchor="ctr"/>
          <a:lstStyle/>
          <a:p>
            <a:pPr indent="0" marL="0">
              <a:lnSpc>
                <a:spcPct val="115000"/>
              </a:lnSpc>
              <a:buNone/>
            </a:pPr>
            <a:r>
              <a:rPr lang="en-US" sz="1050" dirty="0">
                <a:solidFill>
                  <a:srgbClr val="6E84A6"/>
                </a:solidFill>
                <a:latin typeface="Calibri" pitchFamily="34" charset="0"/>
                <a:ea typeface="Calibri" pitchFamily="34" charset="-122"/>
                <a:cs typeface="Calibri" pitchFamily="34" charset="-120"/>
              </a:rPr>
              <a:t>Official offer letter from Codec Technologies (NCS ID: E19E86-0116588288923).</a:t>
            </a:r>
            <a:endParaRPr lang="en-US" sz="1050" dirty="0"/>
          </a:p>
        </p:txBody>
      </p:sp>
      <p:sp>
        <p:nvSpPr>
          <p:cNvPr id="19" name="Shape 17"/>
          <p:cNvSpPr/>
          <p:nvPr/>
        </p:nvSpPr>
        <p:spPr>
          <a:xfrm>
            <a:off x="6217920" y="2926080"/>
            <a:ext cx="5394960" cy="1280160"/>
          </a:xfrm>
          <a:prstGeom prst="roundRect">
            <a:avLst>
              <a:gd name="adj" fmla="val 5714"/>
            </a:avLst>
          </a:prstGeom>
          <a:solidFill>
            <a:srgbClr val="F4F7FC"/>
          </a:solidFill>
          <a:ln/>
        </p:spPr>
      </p:sp>
      <p:sp>
        <p:nvSpPr>
          <p:cNvPr id="20" name="Shape 18"/>
          <p:cNvSpPr/>
          <p:nvPr/>
        </p:nvSpPr>
        <p:spPr>
          <a:xfrm>
            <a:off x="6446520" y="3200400"/>
            <a:ext cx="457200" cy="457200"/>
          </a:xfrm>
          <a:prstGeom prst="ellipse">
            <a:avLst/>
          </a:prstGeom>
          <a:solidFill>
            <a:srgbClr val="13294B"/>
          </a:solidFill>
          <a:ln/>
        </p:spPr>
      </p:sp>
      <p:sp>
        <p:nvSpPr>
          <p:cNvPr id="21" name="Text 19"/>
          <p:cNvSpPr/>
          <p:nvPr/>
        </p:nvSpPr>
        <p:spPr>
          <a:xfrm>
            <a:off x="6446520" y="3200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86600" y="3108960"/>
            <a:ext cx="4297680" cy="36576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Certificate of Internship</a:t>
            </a:r>
            <a:endParaRPr lang="en-US" sz="1400" dirty="0"/>
          </a:p>
        </p:txBody>
      </p:sp>
      <p:sp>
        <p:nvSpPr>
          <p:cNvPr id="23" name="Text 21"/>
          <p:cNvSpPr/>
          <p:nvPr/>
        </p:nvSpPr>
        <p:spPr>
          <a:xfrm>
            <a:off x="7086600" y="3474720"/>
            <a:ext cx="4297680" cy="731520"/>
          </a:xfrm>
          <a:prstGeom prst="rect">
            <a:avLst/>
          </a:prstGeom>
          <a:noFill/>
          <a:ln/>
        </p:spPr>
        <p:txBody>
          <a:bodyPr wrap="square" lIns="0" tIns="0" rIns="0" bIns="0" rtlCol="0" anchor="ctr"/>
          <a:lstStyle/>
          <a:p>
            <a:pPr indent="0" marL="0">
              <a:lnSpc>
                <a:spcPct val="115000"/>
              </a:lnSpc>
              <a:buNone/>
            </a:pPr>
            <a:r>
              <a:rPr lang="en-US" sz="1050" dirty="0">
                <a:solidFill>
                  <a:srgbClr val="6E84A6"/>
                </a:solidFill>
                <a:latin typeface="Calibri" pitchFamily="34" charset="0"/>
                <a:ea typeface="Calibri" pitchFamily="34" charset="-122"/>
                <a:cs typeface="Calibri" pitchFamily="34" charset="-120"/>
              </a:rPr>
              <a:t>AICTE &amp; ICAC approved completion certificate (AICTE ID: CORPORATE...940553).</a:t>
            </a:r>
            <a:endParaRPr lang="en-US" sz="1050" dirty="0"/>
          </a:p>
        </p:txBody>
      </p:sp>
      <p:sp>
        <p:nvSpPr>
          <p:cNvPr id="24" name="Shape 22"/>
          <p:cNvSpPr/>
          <p:nvPr/>
        </p:nvSpPr>
        <p:spPr>
          <a:xfrm>
            <a:off x="457200" y="4526280"/>
            <a:ext cx="11155680" cy="1188720"/>
          </a:xfrm>
          <a:prstGeom prst="roundRect">
            <a:avLst>
              <a:gd name="adj" fmla="val 6154"/>
            </a:avLst>
          </a:prstGeom>
          <a:solidFill>
            <a:srgbClr val="FBEBDD"/>
          </a:solidFill>
          <a:ln/>
        </p:spPr>
      </p:sp>
      <p:sp>
        <p:nvSpPr>
          <p:cNvPr id="25" name="Text 23"/>
          <p:cNvSpPr/>
          <p:nvPr/>
        </p:nvSpPr>
        <p:spPr>
          <a:xfrm>
            <a:off x="777240" y="4709160"/>
            <a:ext cx="9144000" cy="274320"/>
          </a:xfrm>
          <a:prstGeom prst="rect">
            <a:avLst/>
          </a:prstGeom>
          <a:noFill/>
          <a:ln/>
        </p:spPr>
        <p:txBody>
          <a:bodyPr wrap="square" lIns="0" tIns="0" rIns="0" bIns="0" rtlCol="0" anchor="ctr"/>
          <a:lstStyle/>
          <a:p>
            <a:pPr indent="0" marL="0">
              <a:buNone/>
            </a:pPr>
            <a:r>
              <a:rPr lang="en-US" sz="1000" b="1" spc="100" kern="0" dirty="0">
                <a:solidFill>
                  <a:srgbClr val="C97F3F"/>
                </a:solidFill>
                <a:latin typeface="Calibri" pitchFamily="34" charset="0"/>
                <a:ea typeface="Calibri" pitchFamily="34" charset="-122"/>
                <a:cs typeface="Calibri" pitchFamily="34" charset="-120"/>
              </a:rPr>
              <a:t>NOTE ON CERTIFICATION</a:t>
            </a:r>
            <a:endParaRPr lang="en-US" sz="1000" dirty="0"/>
          </a:p>
        </p:txBody>
      </p:sp>
      <p:sp>
        <p:nvSpPr>
          <p:cNvPr id="26" name="Text 24"/>
          <p:cNvSpPr/>
          <p:nvPr/>
        </p:nvSpPr>
        <p:spPr>
          <a:xfrm>
            <a:off x="777240" y="4983480"/>
            <a:ext cx="10241280" cy="640080"/>
          </a:xfrm>
          <a:prstGeom prst="rect">
            <a:avLst/>
          </a:prstGeom>
          <a:noFill/>
          <a:ln/>
        </p:spPr>
        <p:txBody>
          <a:bodyPr wrap="square" lIns="0" tIns="0" rIns="0" bIns="0" rtlCol="0" anchor="ctr"/>
          <a:lstStyle/>
          <a:p>
            <a:pPr indent="0" marL="0">
              <a:lnSpc>
                <a:spcPct val="120000"/>
              </a:lnSpc>
              <a:buNone/>
            </a:pPr>
            <a:r>
              <a:rPr lang="en-US" sz="1100" dirty="0">
                <a:solidFill>
                  <a:srgbClr val="13294B"/>
                </a:solidFill>
                <a:latin typeface="Calibri" pitchFamily="34" charset="0"/>
                <a:ea typeface="Calibri" pitchFamily="34" charset="-122"/>
                <a:cs typeface="Calibri" pitchFamily="34" charset="-120"/>
              </a:rPr>
              <a:t>Unlike a self-directed simulation, this internship was formally offered and completed with Codec Technologies. The signed offer letter and issued certificate are reproduced in full on the following slide for verification.</a:t>
            </a:r>
            <a:endParaRPr lang="en-US" sz="1100" dirty="0"/>
          </a:p>
        </p:txBody>
      </p:sp>
      <p:sp>
        <p:nvSpPr>
          <p:cNvPr id="27" name="Text 25"/>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28" name="Text 26"/>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lIns="0" tIns="0" rIns="0" bIns="0" rtlCol="0" anchor="ctr"/>
          <a:lstStyle/>
          <a:p>
            <a:pPr indent="0" marL="0">
              <a:buNone/>
            </a:pPr>
            <a:r>
              <a:rPr lang="en-US" sz="1100" b="1" spc="150" kern="0" dirty="0">
                <a:solidFill>
                  <a:srgbClr val="C97F3F"/>
                </a:solidFill>
                <a:latin typeface="Calibri" pitchFamily="34" charset="0"/>
                <a:ea typeface="Calibri" pitchFamily="34" charset="-122"/>
                <a:cs typeface="Calibri" pitchFamily="34" charset="-120"/>
              </a:rPr>
              <a:t>INTERNSHIP VERIFICATION</a:t>
            </a:r>
            <a:endParaRPr lang="en-US" sz="1100" dirty="0"/>
          </a:p>
        </p:txBody>
      </p:sp>
      <p:sp>
        <p:nvSpPr>
          <p:cNvPr id="3" name="Text 1"/>
          <p:cNvSpPr/>
          <p:nvPr/>
        </p:nvSpPr>
        <p:spPr>
          <a:xfrm>
            <a:off x="457200" y="658368"/>
            <a:ext cx="10789920" cy="594360"/>
          </a:xfrm>
          <a:prstGeom prst="rect">
            <a:avLst/>
          </a:prstGeom>
          <a:noFill/>
          <a:ln/>
        </p:spPr>
        <p:txBody>
          <a:bodyPr wrap="square" lIns="0" tIns="0" rIns="0" bIns="0" rtlCol="0" anchor="ctr"/>
          <a:lstStyle/>
          <a:p>
            <a:pPr indent="0" marL="0">
              <a:buNone/>
            </a:pPr>
            <a:r>
              <a:rPr lang="en-US" sz="2800" b="1" dirty="0">
                <a:solidFill>
                  <a:srgbClr val="13294B"/>
                </a:solidFill>
                <a:latin typeface="Cambria" pitchFamily="34" charset="0"/>
                <a:ea typeface="Cambria" pitchFamily="34" charset="-122"/>
                <a:cs typeface="Cambria" pitchFamily="34" charset="-120"/>
              </a:rPr>
              <a:t>Offer Letter &amp; Completion Certificate</a:t>
            </a:r>
            <a:endParaRPr lang="en-US" sz="2800" dirty="0"/>
          </a:p>
        </p:txBody>
      </p:sp>
      <p:pic>
        <p:nvPicPr>
          <p:cNvPr id="4" name="Image 0" descr="/home/claude/offer-1.jpg">    </p:cNvPr>
          <p:cNvPicPr>
            <a:picLocks noChangeAspect="1"/>
          </p:cNvPicPr>
          <p:nvPr/>
        </p:nvPicPr>
        <p:blipFill>
          <a:blip r:embed="rId1"/>
          <a:srcRect l="0" r="0" t="0" b="0"/>
          <a:stretch/>
        </p:blipFill>
        <p:spPr>
          <a:xfrm>
            <a:off x="457200" y="1600200"/>
            <a:ext cx="5349240" cy="4434840"/>
          </a:xfrm>
          <a:prstGeom prst="rect">
            <a:avLst/>
          </a:prstGeom>
        </p:spPr>
      </p:pic>
      <p:pic>
        <p:nvPicPr>
          <p:cNvPr id="5" name="Image 1" descr="/home/claude/cert-1.jpg">    </p:cNvPr>
          <p:cNvPicPr>
            <a:picLocks noChangeAspect="1"/>
          </p:cNvPicPr>
          <p:nvPr/>
        </p:nvPicPr>
        <p:blipFill>
          <a:blip r:embed="rId2"/>
          <a:srcRect l="0" r="0" t="0" b="0"/>
          <a:stretch/>
        </p:blipFill>
        <p:spPr>
          <a:xfrm>
            <a:off x="6172200" y="1600200"/>
            <a:ext cx="5349240" cy="4434840"/>
          </a:xfrm>
          <a:prstGeom prst="rect">
            <a:avLst/>
          </a:prstGeom>
        </p:spPr>
      </p:pic>
      <p:sp>
        <p:nvSpPr>
          <p:cNvPr id="6" name="Text 2"/>
          <p:cNvSpPr/>
          <p:nvPr/>
        </p:nvSpPr>
        <p:spPr>
          <a:xfrm>
            <a:off x="457200" y="6108192"/>
            <a:ext cx="5349240" cy="274320"/>
          </a:xfrm>
          <a:prstGeom prst="rect">
            <a:avLst/>
          </a:prstGeom>
          <a:noFill/>
          <a:ln/>
        </p:spPr>
        <p:txBody>
          <a:bodyPr wrap="square" lIns="0" tIns="0" rIns="0" bIns="0" rtlCol="0" anchor="ctr"/>
          <a:lstStyle/>
          <a:p>
            <a:pPr algn="ctr" indent="0" marL="0">
              <a:buNone/>
            </a:pPr>
            <a:r>
              <a:rPr lang="en-US" sz="1000" i="1" dirty="0">
                <a:solidFill>
                  <a:srgbClr val="6E84A6"/>
                </a:solidFill>
                <a:latin typeface="Calibri" pitchFamily="34" charset="0"/>
                <a:ea typeface="Calibri" pitchFamily="34" charset="-122"/>
                <a:cs typeface="Calibri" pitchFamily="34" charset="-120"/>
              </a:rPr>
              <a:t>Offer Letter  |  NCS ID: E19E86-0116588288923</a:t>
            </a:r>
            <a:endParaRPr lang="en-US" sz="1000" dirty="0"/>
          </a:p>
        </p:txBody>
      </p:sp>
      <p:sp>
        <p:nvSpPr>
          <p:cNvPr id="7" name="Text 3"/>
          <p:cNvSpPr/>
          <p:nvPr/>
        </p:nvSpPr>
        <p:spPr>
          <a:xfrm>
            <a:off x="6172200" y="6108192"/>
            <a:ext cx="5349240" cy="274320"/>
          </a:xfrm>
          <a:prstGeom prst="rect">
            <a:avLst/>
          </a:prstGeom>
          <a:noFill/>
          <a:ln/>
        </p:spPr>
        <p:txBody>
          <a:bodyPr wrap="square" lIns="0" tIns="0" rIns="0" bIns="0" rtlCol="0" anchor="ctr"/>
          <a:lstStyle/>
          <a:p>
            <a:pPr algn="ctr" indent="0" marL="0">
              <a:buNone/>
            </a:pPr>
            <a:r>
              <a:rPr lang="en-US" sz="1000" i="1" dirty="0">
                <a:solidFill>
                  <a:srgbClr val="6E84A6"/>
                </a:solidFill>
                <a:latin typeface="Calibri" pitchFamily="34" charset="0"/>
                <a:ea typeface="Calibri" pitchFamily="34" charset="-122"/>
                <a:cs typeface="Calibri" pitchFamily="34" charset="-120"/>
              </a:rPr>
              <a:t>Certificate  |  AICTE ID: CORPORATE...940553</a:t>
            </a:r>
            <a:endParaRPr lang="en-US" sz="1000" dirty="0"/>
          </a:p>
        </p:txBody>
      </p:sp>
      <p:sp>
        <p:nvSpPr>
          <p:cNvPr id="8" name="Text 4"/>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E84A6"/>
                </a:solidFill>
                <a:latin typeface="Calibri" pitchFamily="34" charset="0"/>
                <a:ea typeface="Calibri" pitchFamily="34" charset="-122"/>
                <a:cs typeface="Calibri" pitchFamily="34" charset="-120"/>
              </a:rPr>
              <a:t>Cyber Security Internship Report  |  Codec Technologies</a:t>
            </a:r>
            <a:endParaRPr lang="en-US" sz="900" dirty="0"/>
          </a:p>
        </p:txBody>
      </p:sp>
      <p:sp>
        <p:nvSpPr>
          <p:cNvPr id="9" name="Text 5"/>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E84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10607040" y="-1097280"/>
            <a:ext cx="2926080" cy="2926080"/>
          </a:xfrm>
          <a:prstGeom prst="ellipse">
            <a:avLst/>
          </a:prstGeom>
          <a:solidFill>
            <a:srgbClr val="1F3D6B"/>
          </a:solidFill>
          <a:ln/>
        </p:spPr>
      </p:sp>
      <p:sp>
        <p:nvSpPr>
          <p:cNvPr id="3" name="Shape 1"/>
          <p:cNvSpPr/>
          <p:nvPr/>
        </p:nvSpPr>
        <p:spPr>
          <a:xfrm>
            <a:off x="-731520" y="5120640"/>
            <a:ext cx="2377440" cy="2377440"/>
          </a:xfrm>
          <a:prstGeom prst="ellipse">
            <a:avLst/>
          </a:prstGeom>
          <a:solidFill>
            <a:srgbClr val="C97F3F"/>
          </a:solidFill>
          <a:ln/>
        </p:spPr>
      </p:sp>
      <p:sp>
        <p:nvSpPr>
          <p:cNvPr id="4" name="Text 2"/>
          <p:cNvSpPr/>
          <p:nvPr/>
        </p:nvSpPr>
        <p:spPr>
          <a:xfrm>
            <a:off x="0" y="2743200"/>
            <a:ext cx="1216152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5" name="Text 3"/>
          <p:cNvSpPr/>
          <p:nvPr/>
        </p:nvSpPr>
        <p:spPr>
          <a:xfrm>
            <a:off x="0" y="3383280"/>
            <a:ext cx="12161520" cy="41148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Cyber Security Internship — Codec Technologies</a:t>
            </a:r>
            <a:endParaRPr lang="en-US" sz="1500" dirty="0"/>
          </a:p>
        </p:txBody>
      </p:sp>
      <p:sp>
        <p:nvSpPr>
          <p:cNvPr id="6" name="Text 4"/>
          <p:cNvSpPr/>
          <p:nvPr/>
        </p:nvSpPr>
        <p:spPr>
          <a:xfrm>
            <a:off x="0" y="4114800"/>
            <a:ext cx="12161520" cy="320040"/>
          </a:xfrm>
          <a:prstGeom prst="rect">
            <a:avLst/>
          </a:prstGeom>
          <a:noFill/>
          <a:ln/>
        </p:spPr>
        <p:txBody>
          <a:bodyPr wrap="square" lIns="0" tIns="0" rIns="0" bIns="0" rtlCol="0" anchor="ctr"/>
          <a:lstStyle/>
          <a:p>
            <a:pPr algn="ctr" indent="0" marL="0">
              <a:buNone/>
            </a:pPr>
            <a:r>
              <a:rPr lang="en-US" sz="1200" dirty="0">
                <a:solidFill>
                  <a:srgbClr val="8FA3C2"/>
                </a:solidFill>
                <a:latin typeface="Calibri" pitchFamily="34" charset="0"/>
                <a:ea typeface="Calibri" pitchFamily="34" charset="-122"/>
                <a:cs typeface="Calibri" pitchFamily="34" charset="-120"/>
              </a:rPr>
              <a:t>Yuvraj  |  B.Tech CSE, 2CSE20  |  Roll No. 25SCS1003005170</a:t>
            </a:r>
            <a:endParaRPr lang="en-US" sz="1200" dirty="0"/>
          </a:p>
        </p:txBody>
      </p:sp>
      <p:sp>
        <p:nvSpPr>
          <p:cNvPr id="7" name="Text 5"/>
          <p:cNvSpPr/>
          <p:nvPr/>
        </p:nvSpPr>
        <p:spPr>
          <a:xfrm>
            <a:off x="0" y="4434840"/>
            <a:ext cx="12161520" cy="320040"/>
          </a:xfrm>
          <a:prstGeom prst="rect">
            <a:avLst/>
          </a:prstGeom>
          <a:noFill/>
          <a:ln/>
        </p:spPr>
        <p:txBody>
          <a:bodyPr wrap="square" lIns="0" tIns="0" rIns="0" bIns="0" rtlCol="0" anchor="ctr"/>
          <a:lstStyle/>
          <a:p>
            <a:pPr algn="ctr" indent="0" marL="0">
              <a:buNone/>
            </a:pPr>
            <a:r>
              <a:rPr lang="en-US" sz="1200" dirty="0">
                <a:solidFill>
                  <a:srgbClr val="8FA3C2"/>
                </a:solidFill>
                <a:latin typeface="Calibri" pitchFamily="34" charset="0"/>
                <a:ea typeface="Calibri" pitchFamily="34" charset="-122"/>
                <a:cs typeface="Calibri" pitchFamily="34" charset="-120"/>
              </a:rPr>
              <a:t>IILM University, Greater Noida  |  Academic Year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2026-09-20T17:30:08Z</dcterms:created>
  <dcterms:modified xsi:type="dcterms:W3CDTF">2026-09-20T17:30:08Z</dcterms:modified>
</cp:coreProperties>
</file>